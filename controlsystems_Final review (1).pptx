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62" r:id="rId2"/>
    <p:sldId id="271" r:id="rId3"/>
    <p:sldId id="273" r:id="rId4"/>
    <p:sldId id="274" r:id="rId5"/>
    <p:sldId id="293" r:id="rId6"/>
    <p:sldId id="312" r:id="rId7"/>
    <p:sldId id="313" r:id="rId8"/>
    <p:sldId id="282" r:id="rId9"/>
    <p:sldId id="301" r:id="rId10"/>
    <p:sldId id="306" r:id="rId11"/>
    <p:sldId id="302" r:id="rId12"/>
    <p:sldId id="305" r:id="rId13"/>
    <p:sldId id="307" r:id="rId14"/>
    <p:sldId id="321" r:id="rId15"/>
    <p:sldId id="320" r:id="rId16"/>
    <p:sldId id="319" r:id="rId17"/>
    <p:sldId id="303" r:id="rId18"/>
    <p:sldId id="317" r:id="rId19"/>
    <p:sldId id="316" r:id="rId20"/>
    <p:sldId id="315" r:id="rId21"/>
    <p:sldId id="314" r:id="rId22"/>
    <p:sldId id="318" r:id="rId23"/>
    <p:sldId id="322" r:id="rId24"/>
    <p:sldId id="324" r:id="rId25"/>
    <p:sldId id="326" r:id="rId26"/>
    <p:sldId id="327" r:id="rId27"/>
    <p:sldId id="325" r:id="rId28"/>
    <p:sldId id="32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0D8156-E7F3-4EFD-B1CF-42EB5F7C1C8D}" v="89" dt="2025-08-27T22:30:23.4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94"/>
  </p:normalViewPr>
  <p:slideViewPr>
    <p:cSldViewPr snapToGrid="0">
      <p:cViewPr varScale="1">
        <p:scale>
          <a:sx n="120" d="100"/>
          <a:sy n="120" d="100"/>
        </p:scale>
        <p:origin x="18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4T04:53:11.190"/>
    </inkml:context>
    <inkml:brush xml:id="br0">
      <inkml:brushProperty name="width" value="0.035" units="cm"/>
      <inkml:brushProperty name="height" value="0.03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4T04:53:13.852"/>
    </inkml:context>
    <inkml:brush xml:id="br0">
      <inkml:brushProperty name="width" value="0.035" units="cm"/>
      <inkml:brushProperty name="height" value="0.03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4T04:53:14.118"/>
    </inkml:context>
    <inkml:brush xml:id="br0">
      <inkml:brushProperty name="width" value="0.035" units="cm"/>
      <inkml:brushProperty name="height" value="0.03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4T04:53:16.580"/>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32696-E88E-4D30-8F54-B81F6176E6FF}" type="datetimeFigureOut">
              <a:rPr lang="en-IN" smtClean="0"/>
              <a:t>09/10/25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C6097A-8431-44B7-839D-031C67E7A0AC}" type="slidenum">
              <a:rPr lang="en-IN" smtClean="0"/>
              <a:t>‹#›</a:t>
            </a:fld>
            <a:endParaRPr lang="en-IN"/>
          </a:p>
        </p:txBody>
      </p:sp>
    </p:spTree>
    <p:extLst>
      <p:ext uri="{BB962C8B-B14F-4D97-AF65-F5344CB8AC3E}">
        <p14:creationId xmlns:p14="http://schemas.microsoft.com/office/powerpoint/2010/main" val="3154471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b="1" i="0" u="none" strike="noStrike" cap="none" normalizeH="0" baseline="0" dirty="0">
                <a:ln>
                  <a:noFill/>
                </a:ln>
                <a:solidFill>
                  <a:schemeClr val="tx1"/>
                </a:solidFill>
                <a:effectLst/>
              </a:rPr>
              <a:t>Faraday’s Law</a:t>
            </a:r>
            <a:r>
              <a:rPr kumimoji="0" lang="en-US" altLang="en-US" b="0" i="0" u="none" strike="noStrike" cap="none" normalizeH="0" baseline="0" dirty="0">
                <a:ln>
                  <a:noFill/>
                </a:ln>
                <a:solidFill>
                  <a:schemeClr val="tx1"/>
                </a:solidFill>
                <a:effectLst/>
              </a:rPr>
              <a:t>: A changing magnetic field through a loop induces an electromotive force (EMF) in 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cap="none" normalizeH="0" baseline="0" dirty="0">
                <a:ln>
                  <a:noFill/>
                </a:ln>
                <a:solidFill>
                  <a:schemeClr val="tx1"/>
                </a:solidFill>
                <a:effectLst/>
              </a:rPr>
              <a:t>This is how voltage is generated in the stator. When the north pole of the magnet passes the stator coil, the induced voltage is positive.</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When the south pole passes, the magnetic field direction reverses, so the voltage is negative.</a:t>
            </a:r>
          </a:p>
          <a:p>
            <a:endParaRPr lang="en-IN" dirty="0"/>
          </a:p>
        </p:txBody>
      </p:sp>
      <p:sp>
        <p:nvSpPr>
          <p:cNvPr id="4" name="Slide Number Placeholder 3"/>
          <p:cNvSpPr>
            <a:spLocks noGrp="1"/>
          </p:cNvSpPr>
          <p:nvPr>
            <p:ph type="sldNum" sz="quarter" idx="5"/>
          </p:nvPr>
        </p:nvSpPr>
        <p:spPr/>
        <p:txBody>
          <a:bodyPr/>
          <a:lstStyle/>
          <a:p>
            <a:fld id="{F6A94E06-D47A-473A-88B5-4D758DDC70E6}" type="slidenum">
              <a:rPr lang="en-IN" smtClean="0"/>
              <a:t>4</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Multi-agent Physics-informed DDPG (PAMA-DDPG) wake and battery degradation models Deep Deterministic Policy Gradient</a:t>
            </a:r>
          </a:p>
          <a:p>
            <a:r>
              <a:rPr lang="en-US" dirty="0"/>
              <a:t>Wake and battery degradation models</a:t>
            </a:r>
          </a:p>
          <a:p>
            <a:r>
              <a:rPr lang="en-IN" dirty="0"/>
              <a:t>Double DQN(Double Deep Q-Network), virtual inertia/droop control(</a:t>
            </a:r>
            <a:r>
              <a:rPr lang="en-US" dirty="0"/>
              <a:t>A primary control mechanism used in power systems to share load among parallel generators or inverters. It defines a proportional relationship between frequency deviation and power output change)</a:t>
            </a:r>
            <a:r>
              <a:rPr lang="en-IN" dirty="0"/>
              <a:t>, fuzzy logic for BESS, DC transmission optimization</a:t>
            </a:r>
          </a:p>
          <a:p>
            <a:r>
              <a:rPr lang="en-US" dirty="0"/>
              <a:t>State reconstruction, coordinated control, economic optimization</a:t>
            </a:r>
          </a:p>
          <a:p>
            <a:r>
              <a:rPr lang="en-IN" dirty="0"/>
              <a:t>Primary frequency modulation, quantitative inertia </a:t>
            </a:r>
            <a:r>
              <a:rPr lang="en-IN" dirty="0" err="1"/>
              <a:t>modeling</a:t>
            </a:r>
            <a:r>
              <a:rPr lang="en-IN" dirty="0"/>
              <a:t>, droop control multi-source coordination</a:t>
            </a:r>
          </a:p>
          <a:p>
            <a:r>
              <a:rPr lang="en-US" b="1" dirty="0"/>
              <a:t>Virtual Inertia:</a:t>
            </a:r>
            <a:r>
              <a:rPr lang="en-US" dirty="0"/>
              <a:t> Renewable energy sources (like wind and solar) connected via power electronics often lack inherent inertia. Virtual inertia control involves programming inverters of BESS or renewable generators to mimic the behavior of synchronous generators, injecting or absorbing power to counteract frequency deviations, thus providing synthetic inertia to the grid</a:t>
            </a:r>
            <a:br>
              <a:rPr lang="en-IN" dirty="0"/>
            </a:br>
            <a:r>
              <a:rPr lang="en-US" b="1" dirty="0"/>
              <a:t>Quantitative inertia modeling:</a:t>
            </a:r>
            <a:r>
              <a:rPr lang="en-US" dirty="0"/>
              <a:t> Goes beyond simply saying "there is inertia." This involves developing precise mathematical models to quantify the amount of inertia present in different parts of the grid, including the effective inertia provided by synchronous machines and the synthetic inertia provided by power electronics-interfaced resources like BESS. Accurate quantitative models are essential for designing effective frequency control strategies and assessing system stability.</a:t>
            </a:r>
          </a:p>
          <a:p>
            <a:endParaRPr lang="en-IN" dirty="0"/>
          </a:p>
        </p:txBody>
      </p:sp>
      <p:sp>
        <p:nvSpPr>
          <p:cNvPr id="4" name="Slide Number Placeholder 3"/>
          <p:cNvSpPr>
            <a:spLocks noGrp="1"/>
          </p:cNvSpPr>
          <p:nvPr>
            <p:ph type="sldNum" sz="quarter" idx="5"/>
          </p:nvPr>
        </p:nvSpPr>
        <p:spPr/>
        <p:txBody>
          <a:bodyPr/>
          <a:lstStyle/>
          <a:p>
            <a:fld id="{1AF58592-6C24-4E85-A5BC-551729F16E24}" type="slidenum">
              <a:rPr lang="en-IN" smtClean="0"/>
              <a:t>5</a:t>
            </a:fld>
            <a:endParaRPr lang="en-IN"/>
          </a:p>
        </p:txBody>
      </p:sp>
    </p:spTree>
    <p:extLst>
      <p:ext uri="{BB962C8B-B14F-4D97-AF65-F5344CB8AC3E}">
        <p14:creationId xmlns:p14="http://schemas.microsoft.com/office/powerpoint/2010/main" val="825404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2C775-5281-DB9A-31FE-59806C90B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F538D-6A26-4AF0-5369-6CB42FD9C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1D736E-0232-63BC-4A0A-DCD8A7CA5243}"/>
              </a:ext>
            </a:extLst>
          </p:cNvPr>
          <p:cNvSpPr>
            <a:spLocks noGrp="1"/>
          </p:cNvSpPr>
          <p:nvPr>
            <p:ph type="body" idx="1"/>
          </p:nvPr>
        </p:nvSpPr>
        <p:spPr/>
        <p:txBody>
          <a:bodyPr/>
          <a:lstStyle/>
          <a:p>
            <a:r>
              <a:rPr lang="en-IN" dirty="0"/>
              <a:t>Multi-agent Physics-informed DDPG (PAMA-DDPG) wake and battery degradation models Deep Deterministic Policy Gradient</a:t>
            </a:r>
          </a:p>
          <a:p>
            <a:r>
              <a:rPr lang="en-US" dirty="0"/>
              <a:t>Wake and battery degradation models</a:t>
            </a:r>
          </a:p>
          <a:p>
            <a:r>
              <a:rPr lang="en-IN" dirty="0"/>
              <a:t>Double DQN(Double Deep Q-Network), virtual inertia/droop control(</a:t>
            </a:r>
            <a:r>
              <a:rPr lang="en-US" dirty="0"/>
              <a:t>A primary control mechanism used in power systems to share load among parallel generators or inverters. It defines a proportional relationship between frequency deviation and power output change)</a:t>
            </a:r>
            <a:r>
              <a:rPr lang="en-IN" dirty="0"/>
              <a:t>, fuzzy logic for BESS, DC transmission optimization</a:t>
            </a:r>
          </a:p>
          <a:p>
            <a:r>
              <a:rPr lang="en-US" dirty="0"/>
              <a:t>State reconstruction, coordinated control, economic optimization</a:t>
            </a:r>
          </a:p>
          <a:p>
            <a:r>
              <a:rPr lang="en-IN" dirty="0"/>
              <a:t>Primary frequency modulation, quantitative inertia </a:t>
            </a:r>
            <a:r>
              <a:rPr lang="en-IN" dirty="0" err="1"/>
              <a:t>modeling</a:t>
            </a:r>
            <a:r>
              <a:rPr lang="en-IN" dirty="0"/>
              <a:t>, droop control multi-source coordination</a:t>
            </a:r>
          </a:p>
          <a:p>
            <a:r>
              <a:rPr lang="en-US" b="1" dirty="0"/>
              <a:t>Virtual Inertia:</a:t>
            </a:r>
            <a:r>
              <a:rPr lang="en-US" dirty="0"/>
              <a:t> Renewable energy sources (like wind and solar) connected via power electronics often lack inherent inertia. Virtual inertia control involves programming inverters of BESS or renewable generators to mimic the behavior of synchronous generators, injecting or absorbing power to counteract frequency deviations, thus providing synthetic inertia to the grid</a:t>
            </a:r>
            <a:br>
              <a:rPr lang="en-IN" dirty="0"/>
            </a:br>
            <a:r>
              <a:rPr lang="en-US" b="1" dirty="0"/>
              <a:t>Quantitative inertia modeling:</a:t>
            </a:r>
            <a:r>
              <a:rPr lang="en-US" dirty="0"/>
              <a:t> Goes beyond simply saying "there is inertia." This involves developing precise mathematical models to quantify the amount of inertia present in different parts of the grid, including the effective inertia provided by synchronous machines and the synthetic inertia provided by power electronics-interfaced resources like BESS. Accurate quantitative models are essential for designing effective frequency control strategies and assessing system stability.</a:t>
            </a:r>
          </a:p>
          <a:p>
            <a:endParaRPr lang="en-IN" dirty="0"/>
          </a:p>
        </p:txBody>
      </p:sp>
      <p:sp>
        <p:nvSpPr>
          <p:cNvPr id="4" name="Slide Number Placeholder 3">
            <a:extLst>
              <a:ext uri="{FF2B5EF4-FFF2-40B4-BE49-F238E27FC236}">
                <a16:creationId xmlns:a16="http://schemas.microsoft.com/office/drawing/2014/main" id="{5CC30BED-6691-9408-88D4-AEFECDF3FCD1}"/>
              </a:ext>
            </a:extLst>
          </p:cNvPr>
          <p:cNvSpPr>
            <a:spLocks noGrp="1"/>
          </p:cNvSpPr>
          <p:nvPr>
            <p:ph type="sldNum" sz="quarter" idx="5"/>
          </p:nvPr>
        </p:nvSpPr>
        <p:spPr/>
        <p:txBody>
          <a:bodyPr/>
          <a:lstStyle/>
          <a:p>
            <a:fld id="{1AF58592-6C24-4E85-A5BC-551729F16E24}" type="slidenum">
              <a:rPr lang="en-IN" smtClean="0"/>
              <a:t>6</a:t>
            </a:fld>
            <a:endParaRPr lang="en-IN"/>
          </a:p>
        </p:txBody>
      </p:sp>
    </p:spTree>
    <p:extLst>
      <p:ext uri="{BB962C8B-B14F-4D97-AF65-F5344CB8AC3E}">
        <p14:creationId xmlns:p14="http://schemas.microsoft.com/office/powerpoint/2010/main" val="954882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8EBF1-A6D2-0731-57C0-DBEC827FA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59F65-F072-BE32-9F9C-6CC505195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D8CC5-0BEA-62DD-20C3-4EED760308F7}"/>
              </a:ext>
            </a:extLst>
          </p:cNvPr>
          <p:cNvSpPr>
            <a:spLocks noGrp="1"/>
          </p:cNvSpPr>
          <p:nvPr>
            <p:ph type="body" idx="1"/>
          </p:nvPr>
        </p:nvSpPr>
        <p:spPr/>
        <p:txBody>
          <a:bodyPr/>
          <a:lstStyle/>
          <a:p>
            <a:r>
              <a:rPr lang="en-IN" dirty="0"/>
              <a:t>Multi-agent Physics-informed DDPG (PAMA-DDPG) wake and battery degradation models Deep Deterministic Policy Gradient</a:t>
            </a:r>
          </a:p>
          <a:p>
            <a:r>
              <a:rPr lang="en-US" dirty="0"/>
              <a:t>Wake and battery degradation models</a:t>
            </a:r>
          </a:p>
          <a:p>
            <a:r>
              <a:rPr lang="en-IN" dirty="0"/>
              <a:t>Double DQN(Double Deep Q-Network), virtual inertia/droop control(</a:t>
            </a:r>
            <a:r>
              <a:rPr lang="en-US" dirty="0"/>
              <a:t>A primary control mechanism used in power systems to share load among parallel generators or inverters. It defines a proportional relationship between frequency deviation and power output change)</a:t>
            </a:r>
            <a:r>
              <a:rPr lang="en-IN" dirty="0"/>
              <a:t>, fuzzy logic for BESS, DC transmission optimization</a:t>
            </a:r>
          </a:p>
          <a:p>
            <a:r>
              <a:rPr lang="en-US" dirty="0"/>
              <a:t>State reconstruction, coordinated control, economic optimization</a:t>
            </a:r>
          </a:p>
          <a:p>
            <a:r>
              <a:rPr lang="en-IN" dirty="0"/>
              <a:t>Primary frequency modulation, quantitative inertia </a:t>
            </a:r>
            <a:r>
              <a:rPr lang="en-IN" dirty="0" err="1"/>
              <a:t>modeling</a:t>
            </a:r>
            <a:r>
              <a:rPr lang="en-IN" dirty="0"/>
              <a:t>, droop control multi-source coordination</a:t>
            </a:r>
          </a:p>
          <a:p>
            <a:r>
              <a:rPr lang="en-US" b="1" dirty="0"/>
              <a:t>Virtual Inertia:</a:t>
            </a:r>
            <a:r>
              <a:rPr lang="en-US" dirty="0"/>
              <a:t> Renewable energy sources (like wind and solar) connected via power electronics often lack inherent inertia. Virtual inertia control involves programming inverters of BESS or renewable generators to mimic the behavior of synchronous generators, injecting or absorbing power to counteract frequency deviations, thus providing synthetic inertia to the grid</a:t>
            </a:r>
            <a:br>
              <a:rPr lang="en-IN" dirty="0"/>
            </a:br>
            <a:r>
              <a:rPr lang="en-US" b="1" dirty="0"/>
              <a:t>Quantitative inertia modeling:</a:t>
            </a:r>
            <a:r>
              <a:rPr lang="en-US" dirty="0"/>
              <a:t> Goes beyond simply saying "there is inertia." This involves developing precise mathematical models to quantify the amount of inertia present in different parts of the grid, including the effective inertia provided by synchronous machines and the synthetic inertia provided by power electronics-interfaced resources like BESS. Accurate quantitative models are essential for designing effective frequency control strategies and assessing system stability.</a:t>
            </a:r>
          </a:p>
          <a:p>
            <a:endParaRPr lang="en-IN" dirty="0"/>
          </a:p>
        </p:txBody>
      </p:sp>
      <p:sp>
        <p:nvSpPr>
          <p:cNvPr id="4" name="Slide Number Placeholder 3">
            <a:extLst>
              <a:ext uri="{FF2B5EF4-FFF2-40B4-BE49-F238E27FC236}">
                <a16:creationId xmlns:a16="http://schemas.microsoft.com/office/drawing/2014/main" id="{A57B9CAC-81A9-43FF-B02F-55207E9600D0}"/>
              </a:ext>
            </a:extLst>
          </p:cNvPr>
          <p:cNvSpPr>
            <a:spLocks noGrp="1"/>
          </p:cNvSpPr>
          <p:nvPr>
            <p:ph type="sldNum" sz="quarter" idx="5"/>
          </p:nvPr>
        </p:nvSpPr>
        <p:spPr/>
        <p:txBody>
          <a:bodyPr/>
          <a:lstStyle/>
          <a:p>
            <a:fld id="{1AF58592-6C24-4E85-A5BC-551729F16E24}" type="slidenum">
              <a:rPr lang="en-IN" smtClean="0"/>
              <a:t>7</a:t>
            </a:fld>
            <a:endParaRPr lang="en-IN"/>
          </a:p>
        </p:txBody>
      </p:sp>
    </p:spTree>
    <p:extLst>
      <p:ext uri="{BB962C8B-B14F-4D97-AF65-F5344CB8AC3E}">
        <p14:creationId xmlns:p14="http://schemas.microsoft.com/office/powerpoint/2010/main" val="104601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AF58592-6C24-4E85-A5BC-551729F16E24}" type="slidenum">
              <a:rPr lang="en-IN" smtClean="0"/>
              <a:t>8</a:t>
            </a:fld>
            <a:endParaRPr lang="en-IN"/>
          </a:p>
        </p:txBody>
      </p:sp>
    </p:spTree>
    <p:extLst>
      <p:ext uri="{BB962C8B-B14F-4D97-AF65-F5344CB8AC3E}">
        <p14:creationId xmlns:p14="http://schemas.microsoft.com/office/powerpoint/2010/main" val="644338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Ramp Time is the total amount of time you want to spend gently reducing your help after an emergency is over (like counting down from 300 seconds).</a:t>
            </a:r>
          </a:p>
          <a:p>
            <a:r>
              <a:rPr lang="en-US" sz="1200" b="0" i="0" kern="1200" dirty="0">
                <a:solidFill>
                  <a:schemeClr val="tx1"/>
                </a:solidFill>
                <a:effectLst/>
                <a:latin typeface="+mn-lt"/>
                <a:ea typeface="+mn-ea"/>
                <a:cs typeface="+mn-cs"/>
              </a:rPr>
              <a:t>Ramp Timer is like an egg timer that counts down how much longer you should keep relaxing your help.</a:t>
            </a:r>
          </a:p>
          <a:p>
            <a:endParaRPr lang="en-IN" dirty="0"/>
          </a:p>
        </p:txBody>
      </p:sp>
      <p:sp>
        <p:nvSpPr>
          <p:cNvPr id="4" name="Slide Number Placeholder 3"/>
          <p:cNvSpPr>
            <a:spLocks noGrp="1"/>
          </p:cNvSpPr>
          <p:nvPr>
            <p:ph type="sldNum" sz="quarter" idx="5"/>
          </p:nvPr>
        </p:nvSpPr>
        <p:spPr/>
        <p:txBody>
          <a:bodyPr/>
          <a:lstStyle/>
          <a:p>
            <a:fld id="{90C6097A-8431-44B7-839D-031C67E7A0AC}" type="slidenum">
              <a:rPr lang="en-IN" smtClean="0"/>
              <a:t>13</a:t>
            </a:fld>
            <a:endParaRPr lang="en-IN"/>
          </a:p>
        </p:txBody>
      </p:sp>
    </p:spTree>
    <p:extLst>
      <p:ext uri="{BB962C8B-B14F-4D97-AF65-F5344CB8AC3E}">
        <p14:creationId xmlns:p14="http://schemas.microsoft.com/office/powerpoint/2010/main" val="2673688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A73D5-F036-7DA6-A1E4-A632D2537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7CD6A-C618-1B3F-3911-7DEA53824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0EF1-667B-FCAE-0B54-60B9A610A9B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Ramp Time is the total amount of time you want to spend gently reducing your help after an emergency is over (like counting down from 300 seconds).</a:t>
            </a:r>
          </a:p>
          <a:p>
            <a:r>
              <a:rPr lang="en-US" sz="1200" b="0" i="0" kern="1200" dirty="0">
                <a:solidFill>
                  <a:schemeClr val="tx1"/>
                </a:solidFill>
                <a:effectLst/>
                <a:latin typeface="+mn-lt"/>
                <a:ea typeface="+mn-ea"/>
                <a:cs typeface="+mn-cs"/>
              </a:rPr>
              <a:t>Ramp Timer is like an egg timer that counts down how much longer you should keep relaxing your help.</a:t>
            </a:r>
          </a:p>
          <a:p>
            <a:endParaRPr lang="en-IN" dirty="0"/>
          </a:p>
        </p:txBody>
      </p:sp>
      <p:sp>
        <p:nvSpPr>
          <p:cNvPr id="4" name="Slide Number Placeholder 3">
            <a:extLst>
              <a:ext uri="{FF2B5EF4-FFF2-40B4-BE49-F238E27FC236}">
                <a16:creationId xmlns:a16="http://schemas.microsoft.com/office/drawing/2014/main" id="{2DAF5362-0BCA-CDC0-2D48-97CC6321BB58}"/>
              </a:ext>
            </a:extLst>
          </p:cNvPr>
          <p:cNvSpPr>
            <a:spLocks noGrp="1"/>
          </p:cNvSpPr>
          <p:nvPr>
            <p:ph type="sldNum" sz="quarter" idx="5"/>
          </p:nvPr>
        </p:nvSpPr>
        <p:spPr/>
        <p:txBody>
          <a:bodyPr/>
          <a:lstStyle/>
          <a:p>
            <a:fld id="{90C6097A-8431-44B7-839D-031C67E7A0AC}" type="slidenum">
              <a:rPr lang="en-IN" smtClean="0"/>
              <a:t>14</a:t>
            </a:fld>
            <a:endParaRPr lang="en-IN"/>
          </a:p>
        </p:txBody>
      </p:sp>
    </p:spTree>
    <p:extLst>
      <p:ext uri="{BB962C8B-B14F-4D97-AF65-F5344CB8AC3E}">
        <p14:creationId xmlns:p14="http://schemas.microsoft.com/office/powerpoint/2010/main" val="3140120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BDBD3-140D-9FCD-73BF-B10B0A4CD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507AB-9F70-8A03-CF69-DDB50058D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A291F-5DC8-2AC6-A645-0B27A33F058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Ramp Time is the total amount of time you want to spend gently reducing your help after an emergency is over (like counting down from 300 seconds).</a:t>
            </a:r>
          </a:p>
          <a:p>
            <a:r>
              <a:rPr lang="en-US" sz="1200" b="0" i="0" kern="1200" dirty="0">
                <a:solidFill>
                  <a:schemeClr val="tx1"/>
                </a:solidFill>
                <a:effectLst/>
                <a:latin typeface="+mn-lt"/>
                <a:ea typeface="+mn-ea"/>
                <a:cs typeface="+mn-cs"/>
              </a:rPr>
              <a:t>Ramp Timer is like an egg timer that counts down how much longer you should keep relaxing your help.</a:t>
            </a:r>
          </a:p>
          <a:p>
            <a:endParaRPr lang="en-IN" dirty="0"/>
          </a:p>
        </p:txBody>
      </p:sp>
      <p:sp>
        <p:nvSpPr>
          <p:cNvPr id="4" name="Slide Number Placeholder 3">
            <a:extLst>
              <a:ext uri="{FF2B5EF4-FFF2-40B4-BE49-F238E27FC236}">
                <a16:creationId xmlns:a16="http://schemas.microsoft.com/office/drawing/2014/main" id="{34A47A58-689F-55EE-22AE-D835F157A7CF}"/>
              </a:ext>
            </a:extLst>
          </p:cNvPr>
          <p:cNvSpPr>
            <a:spLocks noGrp="1"/>
          </p:cNvSpPr>
          <p:nvPr>
            <p:ph type="sldNum" sz="quarter" idx="5"/>
          </p:nvPr>
        </p:nvSpPr>
        <p:spPr/>
        <p:txBody>
          <a:bodyPr/>
          <a:lstStyle/>
          <a:p>
            <a:fld id="{90C6097A-8431-44B7-839D-031C67E7A0AC}" type="slidenum">
              <a:rPr lang="en-IN" smtClean="0"/>
              <a:t>15</a:t>
            </a:fld>
            <a:endParaRPr lang="en-IN"/>
          </a:p>
        </p:txBody>
      </p:sp>
    </p:spTree>
    <p:extLst>
      <p:ext uri="{BB962C8B-B14F-4D97-AF65-F5344CB8AC3E}">
        <p14:creationId xmlns:p14="http://schemas.microsoft.com/office/powerpoint/2010/main" val="2257601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143B0-85F9-D6CC-F870-616C69701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3484A-1A1C-C5DA-DD71-EF814F48C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5088DF-2DA4-1928-36A0-A6E704D00E6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Ramp Time is the total amount of time you want to spend gently reducing your help after an emergency is over (like counting down from 300 seconds).</a:t>
            </a:r>
          </a:p>
          <a:p>
            <a:r>
              <a:rPr lang="en-US" sz="1200" b="0" i="0" kern="1200" dirty="0">
                <a:solidFill>
                  <a:schemeClr val="tx1"/>
                </a:solidFill>
                <a:effectLst/>
                <a:latin typeface="+mn-lt"/>
                <a:ea typeface="+mn-ea"/>
                <a:cs typeface="+mn-cs"/>
              </a:rPr>
              <a:t>Ramp Timer is like an egg timer that counts down how much longer you should keep relaxing your help.</a:t>
            </a:r>
          </a:p>
          <a:p>
            <a:endParaRPr lang="en-IN" dirty="0"/>
          </a:p>
        </p:txBody>
      </p:sp>
      <p:sp>
        <p:nvSpPr>
          <p:cNvPr id="4" name="Slide Number Placeholder 3">
            <a:extLst>
              <a:ext uri="{FF2B5EF4-FFF2-40B4-BE49-F238E27FC236}">
                <a16:creationId xmlns:a16="http://schemas.microsoft.com/office/drawing/2014/main" id="{5835A2C9-E2F4-F447-BDD8-0BFE301655DB}"/>
              </a:ext>
            </a:extLst>
          </p:cNvPr>
          <p:cNvSpPr>
            <a:spLocks noGrp="1"/>
          </p:cNvSpPr>
          <p:nvPr>
            <p:ph type="sldNum" sz="quarter" idx="5"/>
          </p:nvPr>
        </p:nvSpPr>
        <p:spPr/>
        <p:txBody>
          <a:bodyPr/>
          <a:lstStyle/>
          <a:p>
            <a:fld id="{90C6097A-8431-44B7-839D-031C67E7A0AC}" type="slidenum">
              <a:rPr lang="en-IN" smtClean="0"/>
              <a:t>16</a:t>
            </a:fld>
            <a:endParaRPr lang="en-IN"/>
          </a:p>
        </p:txBody>
      </p:sp>
    </p:spTree>
    <p:extLst>
      <p:ext uri="{BB962C8B-B14F-4D97-AF65-F5344CB8AC3E}">
        <p14:creationId xmlns:p14="http://schemas.microsoft.com/office/powerpoint/2010/main" val="2222940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E9461-270E-3C58-F1D1-232FC79934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00F6F8A-74E4-667D-C764-D7B42FFC96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758BAC-9721-B477-8B15-32CD353F072F}"/>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5" name="Footer Placeholder 4">
            <a:extLst>
              <a:ext uri="{FF2B5EF4-FFF2-40B4-BE49-F238E27FC236}">
                <a16:creationId xmlns:a16="http://schemas.microsoft.com/office/drawing/2014/main" id="{9C9C1655-64E7-F02B-5F23-7BF99E5E8D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C428D9-04C2-BD38-1BA6-CBE5CEF41D3A}"/>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990583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685C6-1FF1-45FD-B135-E08CF6D785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A524C2-76C1-7271-486C-9C71EF0C44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4344C9-FA3D-3D96-D74B-EA2B4DA3092F}"/>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5" name="Footer Placeholder 4">
            <a:extLst>
              <a:ext uri="{FF2B5EF4-FFF2-40B4-BE49-F238E27FC236}">
                <a16:creationId xmlns:a16="http://schemas.microsoft.com/office/drawing/2014/main" id="{EC398F4E-9E9A-EB89-ABE1-DB4B49DEA8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41C4ED-75F6-9A53-8CA6-D1B389414183}"/>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1152419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EF6C-5FD8-DEB9-2F00-D793C3D3DD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0F1409-F06B-9CA7-97FD-DE9C84D91F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8638F-73D4-910A-9D43-72798F0E08FF}"/>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5" name="Footer Placeholder 4">
            <a:extLst>
              <a:ext uri="{FF2B5EF4-FFF2-40B4-BE49-F238E27FC236}">
                <a16:creationId xmlns:a16="http://schemas.microsoft.com/office/drawing/2014/main" id="{EDB2435E-A7F4-E881-CE65-29682227B7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A0B0DB-D05F-F6EF-241D-8BD956378183}"/>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172285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04CCE-428D-C795-A28C-7E273C5464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70EE21-ACC7-0A5F-F27F-B044E98703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77E8C7-0D93-13C4-33C8-F7A1EC35F2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8DB41A5-019C-A853-E3C9-4DE5DE61DE20}"/>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6" name="Footer Placeholder 5">
            <a:extLst>
              <a:ext uri="{FF2B5EF4-FFF2-40B4-BE49-F238E27FC236}">
                <a16:creationId xmlns:a16="http://schemas.microsoft.com/office/drawing/2014/main" id="{069C9CAC-5C31-DDCC-CC88-4781FF9185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FD28CF-6A2A-5C0F-46B1-C18080E6B6F8}"/>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34892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B79A-DEDC-E111-5E36-6281D6DC2E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FBEF78-0BD4-0139-F084-5387575FC7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0F67E1-09C9-1394-FE1D-CF11E10449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9DFA82F-690D-7DE4-A853-B3AC30B24E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51C70F-65A5-8EF0-35DC-77FFE4DB0B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022F10-A3C3-AC00-0B56-3A5BE6400560}"/>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8" name="Footer Placeholder 7">
            <a:extLst>
              <a:ext uri="{FF2B5EF4-FFF2-40B4-BE49-F238E27FC236}">
                <a16:creationId xmlns:a16="http://schemas.microsoft.com/office/drawing/2014/main" id="{5D91CF38-332C-C95B-AA4B-2CA44C7BC3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ED9F2E-E6DC-19C3-7AD0-242215A14221}"/>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3900316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35236-43C3-027C-0435-258E787760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4F6B0-DD98-D904-7BFA-B661FBC2FF31}"/>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4" name="Footer Placeholder 3">
            <a:extLst>
              <a:ext uri="{FF2B5EF4-FFF2-40B4-BE49-F238E27FC236}">
                <a16:creationId xmlns:a16="http://schemas.microsoft.com/office/drawing/2014/main" id="{7B875099-0927-987B-C2B3-0130B7BA06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AACA2F-C051-E93E-4BB8-5CB7C8793E14}"/>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366739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736107-CB10-F3CF-11C6-4C3229297A7E}"/>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3" name="Footer Placeholder 2">
            <a:extLst>
              <a:ext uri="{FF2B5EF4-FFF2-40B4-BE49-F238E27FC236}">
                <a16:creationId xmlns:a16="http://schemas.microsoft.com/office/drawing/2014/main" id="{542F1F16-1899-0B00-6A08-A9148888E1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ED7BE9-2153-6FFB-201B-E642E551AF68}"/>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912743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281E5-3DBF-0FE5-3B7F-13BC42D3A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9D0BCEA-AC81-9059-0F0A-49323E2471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0F49166-6C92-A642-8A10-CD63A0C8A8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71C1B-89B3-79D1-0EB2-6A5F8CB76D35}"/>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6" name="Footer Placeholder 5">
            <a:extLst>
              <a:ext uri="{FF2B5EF4-FFF2-40B4-BE49-F238E27FC236}">
                <a16:creationId xmlns:a16="http://schemas.microsoft.com/office/drawing/2014/main" id="{2A7A071F-48B9-3F8F-CA1D-B86E1725B1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2BF3D6-F885-555E-9EDC-C8AC2AFE5CEF}"/>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2590390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975F-0976-D4AA-FB23-1EC8A2658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15A32D-17E7-7107-31B4-45122C7A36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543E3A-B79E-E4E0-5EEA-C3F78AE97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3DEEF2-C5B3-637A-7972-A4761E9B9D3F}"/>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6" name="Footer Placeholder 5">
            <a:extLst>
              <a:ext uri="{FF2B5EF4-FFF2-40B4-BE49-F238E27FC236}">
                <a16:creationId xmlns:a16="http://schemas.microsoft.com/office/drawing/2014/main" id="{B5D2E6BE-7781-2563-56DA-215C0A9056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F49720-E525-91B8-D4EA-4D65324A6DE1}"/>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623977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55995-2D80-8F42-580F-1375FB0179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9D72A8-5B02-904F-BE86-17674EF145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6F81B6-DDC7-2FE9-C519-06912A30C944}"/>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5" name="Footer Placeholder 4">
            <a:extLst>
              <a:ext uri="{FF2B5EF4-FFF2-40B4-BE49-F238E27FC236}">
                <a16:creationId xmlns:a16="http://schemas.microsoft.com/office/drawing/2014/main" id="{6275B3AC-7B85-BCB4-CF4D-A396F5B074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2CF176-6CF5-FE71-D78F-4642098251EA}"/>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250268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DCD298-006B-3629-3C46-004768AB58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4E3F5F-F875-BA47-2B61-3DA8D96ECF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566E31-59E5-60BC-1579-143657E04968}"/>
              </a:ext>
            </a:extLst>
          </p:cNvPr>
          <p:cNvSpPr>
            <a:spLocks noGrp="1"/>
          </p:cNvSpPr>
          <p:nvPr>
            <p:ph type="dt" sz="half" idx="10"/>
          </p:nvPr>
        </p:nvSpPr>
        <p:spPr/>
        <p:txBody>
          <a:bodyPr/>
          <a:lstStyle/>
          <a:p>
            <a:fld id="{972CC7B5-6D7A-4377-96B5-F7E0912F3196}" type="datetimeFigureOut">
              <a:rPr lang="en-IN" smtClean="0"/>
              <a:t>09/10/25</a:t>
            </a:fld>
            <a:endParaRPr lang="en-IN"/>
          </a:p>
        </p:txBody>
      </p:sp>
      <p:sp>
        <p:nvSpPr>
          <p:cNvPr id="5" name="Footer Placeholder 4">
            <a:extLst>
              <a:ext uri="{FF2B5EF4-FFF2-40B4-BE49-F238E27FC236}">
                <a16:creationId xmlns:a16="http://schemas.microsoft.com/office/drawing/2014/main" id="{8F9FAE3F-8056-5C0C-D3CF-6319F2519E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4CD083-02F6-B5D2-C3E8-FAC3990AAA59}"/>
              </a:ext>
            </a:extLst>
          </p:cNvPr>
          <p:cNvSpPr>
            <a:spLocks noGrp="1"/>
          </p:cNvSpPr>
          <p:nvPr>
            <p:ph type="sldNum" sz="quarter" idx="12"/>
          </p:nvPr>
        </p:nvSpPr>
        <p:spPr/>
        <p:txBody>
          <a:bodyPr/>
          <a:lstStyle/>
          <a:p>
            <a:fld id="{0A2D8AF9-E415-4C40-A168-B25B42FB1114}" type="slidenum">
              <a:rPr lang="en-IN" smtClean="0"/>
              <a:t>‹#›</a:t>
            </a:fld>
            <a:endParaRPr lang="en-IN"/>
          </a:p>
        </p:txBody>
      </p:sp>
    </p:spTree>
    <p:extLst>
      <p:ext uri="{BB962C8B-B14F-4D97-AF65-F5344CB8AC3E}">
        <p14:creationId xmlns:p14="http://schemas.microsoft.com/office/powerpoint/2010/main" val="3030840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CE1EFE-FE27-50B5-AD4C-5975321AE3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AEBDE2-4CE0-ACBB-2D82-55F99E9FE7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077CFA-4DD1-A246-563A-AEF0975CDD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2CC7B5-6D7A-4377-96B5-F7E0912F3196}" type="datetimeFigureOut">
              <a:rPr lang="en-IN" smtClean="0"/>
              <a:t>09/10/25</a:t>
            </a:fld>
            <a:endParaRPr lang="en-IN"/>
          </a:p>
        </p:txBody>
      </p:sp>
      <p:sp>
        <p:nvSpPr>
          <p:cNvPr id="5" name="Footer Placeholder 4">
            <a:extLst>
              <a:ext uri="{FF2B5EF4-FFF2-40B4-BE49-F238E27FC236}">
                <a16:creationId xmlns:a16="http://schemas.microsoft.com/office/drawing/2014/main" id="{AFA0351C-16B3-2E66-AF99-0DFB9C55E1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D61DF1-D17F-1EB4-E903-301FA6FE7C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2D8AF9-E415-4C40-A168-B25B42FB1114}" type="slidenum">
              <a:rPr lang="en-IN" smtClean="0"/>
              <a:t>‹#›</a:t>
            </a:fld>
            <a:endParaRPr lang="en-IN"/>
          </a:p>
        </p:txBody>
      </p:sp>
    </p:spTree>
    <p:extLst>
      <p:ext uri="{BB962C8B-B14F-4D97-AF65-F5344CB8AC3E}">
        <p14:creationId xmlns:p14="http://schemas.microsoft.com/office/powerpoint/2010/main" val="151548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customXml" Target="../ink/ink4.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115758-6BB7-2D15-C278-6F37472D67DA}"/>
              </a:ext>
            </a:extLst>
          </p:cNvPr>
          <p:cNvSpPr/>
          <p:nvPr/>
        </p:nvSpPr>
        <p:spPr>
          <a:xfrm>
            <a:off x="275943" y="270550"/>
            <a:ext cx="11602528" cy="6316900"/>
          </a:xfrm>
          <a:prstGeom prst="rect">
            <a:avLst/>
          </a:prstGeom>
          <a:solidFill>
            <a:schemeClr val="lt1">
              <a:alpha val="0"/>
            </a:schemeClr>
          </a:solidFill>
          <a:ln w="28575"/>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pic>
        <p:nvPicPr>
          <p:cNvPr id="2" name="Picture 1" descr="Amrita University: Courses, Fees &amp; Eligibility - CareerGuide">
            <a:extLst>
              <a:ext uri="{FF2B5EF4-FFF2-40B4-BE49-F238E27FC236}">
                <a16:creationId xmlns:a16="http://schemas.microsoft.com/office/drawing/2014/main" id="{78DBA72D-41B1-5150-7D81-33B01BA076F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31922" y="965737"/>
            <a:ext cx="5731510" cy="1493520"/>
          </a:xfrm>
          <a:prstGeom prst="rect">
            <a:avLst/>
          </a:prstGeom>
          <a:noFill/>
          <a:ln>
            <a:noFill/>
          </a:ln>
        </p:spPr>
      </p:pic>
      <p:sp>
        <p:nvSpPr>
          <p:cNvPr id="3" name="TextBox 2">
            <a:extLst>
              <a:ext uri="{FF2B5EF4-FFF2-40B4-BE49-F238E27FC236}">
                <a16:creationId xmlns:a16="http://schemas.microsoft.com/office/drawing/2014/main" id="{33F37FE7-D6BB-0E8A-9EC1-CBF72E698BB0}"/>
              </a:ext>
            </a:extLst>
          </p:cNvPr>
          <p:cNvSpPr txBox="1"/>
          <p:nvPr/>
        </p:nvSpPr>
        <p:spPr>
          <a:xfrm>
            <a:off x="1954161" y="2988714"/>
            <a:ext cx="8087031" cy="1077218"/>
          </a:xfrm>
          <a:prstGeom prst="rect">
            <a:avLst/>
          </a:prstGeom>
          <a:noFill/>
        </p:spPr>
        <p:txBody>
          <a:bodyPr wrap="square">
            <a:spAutoFit/>
          </a:bodyPr>
          <a:lstStyle/>
          <a:p>
            <a:pPr algn="ctr"/>
            <a:r>
              <a:rPr lang="en-US" sz="3200" dirty="0">
                <a:latin typeface="Times New Roman" panose="02020603050405020304" pitchFamily="18" charset="0"/>
                <a:cs typeface="Times New Roman" panose="02020603050405020304" pitchFamily="18" charset="0"/>
              </a:rPr>
              <a:t>Optimal Control Methodology for Energy Balancing in Microgrids</a:t>
            </a:r>
            <a:endParaRPr lang="en-IN" sz="3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9315FCD-FE87-164D-F4E5-C1CE3478941D}"/>
              </a:ext>
            </a:extLst>
          </p:cNvPr>
          <p:cNvSpPr txBox="1"/>
          <p:nvPr/>
        </p:nvSpPr>
        <p:spPr>
          <a:xfrm>
            <a:off x="10557102" y="5886760"/>
            <a:ext cx="1396181" cy="369332"/>
          </a:xfrm>
          <a:prstGeom prst="rect">
            <a:avLst/>
          </a:prstGeom>
          <a:noFill/>
        </p:spPr>
        <p:txBody>
          <a:bodyPr wrap="square">
            <a:spAutoFit/>
          </a:bodyPr>
          <a:lstStyle/>
          <a:p>
            <a:r>
              <a:rPr lang="en-US" sz="1800" dirty="0"/>
              <a:t>Team B-1</a:t>
            </a:r>
            <a:endParaRPr lang="en-IN"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B61F75E-FBBD-F873-E5B5-A201871A13CE}"/>
                  </a:ext>
                </a:extLst>
              </p14:cNvPr>
              <p14:cNvContentPartPr/>
              <p14:nvPr/>
            </p14:nvContentPartPr>
            <p14:xfrm>
              <a:off x="-362697" y="965737"/>
              <a:ext cx="360" cy="360"/>
            </p14:xfrm>
          </p:contentPart>
        </mc:Choice>
        <mc:Fallback xmlns="">
          <p:pic>
            <p:nvPicPr>
              <p:cNvPr id="4" name="Ink 3">
                <a:extLst>
                  <a:ext uri="{FF2B5EF4-FFF2-40B4-BE49-F238E27FC236}">
                    <a16:creationId xmlns:a16="http://schemas.microsoft.com/office/drawing/2014/main" id="{AB61F75E-FBBD-F873-E5B5-A201871A13CE}"/>
                  </a:ext>
                </a:extLst>
              </p:cNvPr>
              <p:cNvPicPr/>
              <p:nvPr/>
            </p:nvPicPr>
            <p:blipFill>
              <a:blip r:embed="rId4"/>
              <a:stretch>
                <a:fillRect/>
              </a:stretch>
            </p:blipFill>
            <p:spPr>
              <a:xfrm>
                <a:off x="-368817" y="959617"/>
                <a:ext cx="12600" cy="12600"/>
              </a:xfrm>
              <a:prstGeom prst="rect">
                <a:avLst/>
              </a:prstGeom>
            </p:spPr>
          </p:pic>
        </mc:Fallback>
      </mc:AlternateContent>
      <p:grpSp>
        <p:nvGrpSpPr>
          <p:cNvPr id="8" name="Group 7">
            <a:extLst>
              <a:ext uri="{FF2B5EF4-FFF2-40B4-BE49-F238E27FC236}">
                <a16:creationId xmlns:a16="http://schemas.microsoft.com/office/drawing/2014/main" id="{51382046-0255-0B65-9568-BC111F62EDF6}"/>
              </a:ext>
            </a:extLst>
          </p:cNvPr>
          <p:cNvGrpSpPr/>
          <p:nvPr/>
        </p:nvGrpSpPr>
        <p:grpSpPr>
          <a:xfrm>
            <a:off x="275943" y="1155817"/>
            <a:ext cx="360" cy="360"/>
            <a:chOff x="275943" y="1155817"/>
            <a:chExt cx="360" cy="360"/>
          </a:xfrm>
        </p:grpSpPr>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21AA0466-679F-81A1-1A99-1ABA84644FD4}"/>
                    </a:ext>
                  </a:extLst>
                </p14:cNvPr>
                <p14:cNvContentPartPr/>
                <p14:nvPr/>
              </p14:nvContentPartPr>
              <p14:xfrm>
                <a:off x="275943" y="1155817"/>
                <a:ext cx="360" cy="360"/>
              </p14:xfrm>
            </p:contentPart>
          </mc:Choice>
          <mc:Fallback xmlns="">
            <p:pic>
              <p:nvPicPr>
                <p:cNvPr id="6" name="Ink 5">
                  <a:extLst>
                    <a:ext uri="{FF2B5EF4-FFF2-40B4-BE49-F238E27FC236}">
                      <a16:creationId xmlns:a16="http://schemas.microsoft.com/office/drawing/2014/main" id="{21AA0466-679F-81A1-1A99-1ABA84644FD4}"/>
                    </a:ext>
                  </a:extLst>
                </p:cNvPr>
                <p:cNvPicPr/>
                <p:nvPr/>
              </p:nvPicPr>
              <p:blipFill>
                <a:blip r:embed="rId4"/>
                <a:stretch>
                  <a:fillRect/>
                </a:stretch>
              </p:blipFill>
              <p:spPr>
                <a:xfrm>
                  <a:off x="269823" y="114969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278F4EA5-21C3-A326-FB74-EA3D8097F829}"/>
                    </a:ext>
                  </a:extLst>
                </p14:cNvPr>
                <p14:cNvContentPartPr/>
                <p14:nvPr/>
              </p14:nvContentPartPr>
              <p14:xfrm>
                <a:off x="275943" y="1155817"/>
                <a:ext cx="360" cy="360"/>
              </p14:xfrm>
            </p:contentPart>
          </mc:Choice>
          <mc:Fallback xmlns="">
            <p:pic>
              <p:nvPicPr>
                <p:cNvPr id="7" name="Ink 6">
                  <a:extLst>
                    <a:ext uri="{FF2B5EF4-FFF2-40B4-BE49-F238E27FC236}">
                      <a16:creationId xmlns:a16="http://schemas.microsoft.com/office/drawing/2014/main" id="{278F4EA5-21C3-A326-FB74-EA3D8097F829}"/>
                    </a:ext>
                  </a:extLst>
                </p:cNvPr>
                <p:cNvPicPr/>
                <p:nvPr/>
              </p:nvPicPr>
              <p:blipFill>
                <a:blip r:embed="rId4"/>
                <a:stretch>
                  <a:fillRect/>
                </a:stretch>
              </p:blipFill>
              <p:spPr>
                <a:xfrm>
                  <a:off x="269823" y="1149697"/>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A50B37A5-5619-6271-9EC2-5B32B5001BEE}"/>
                  </a:ext>
                </a:extLst>
              </p14:cNvPr>
              <p14:cNvContentPartPr/>
              <p14:nvPr/>
            </p14:nvContentPartPr>
            <p14:xfrm>
              <a:off x="275943" y="1173097"/>
              <a:ext cx="360" cy="360"/>
            </p14:xfrm>
          </p:contentPart>
        </mc:Choice>
        <mc:Fallback xmlns="">
          <p:pic>
            <p:nvPicPr>
              <p:cNvPr id="9" name="Ink 8">
                <a:extLst>
                  <a:ext uri="{FF2B5EF4-FFF2-40B4-BE49-F238E27FC236}">
                    <a16:creationId xmlns:a16="http://schemas.microsoft.com/office/drawing/2014/main" id="{A50B37A5-5619-6271-9EC2-5B32B5001BEE}"/>
                  </a:ext>
                </a:extLst>
              </p:cNvPr>
              <p:cNvPicPr/>
              <p:nvPr/>
            </p:nvPicPr>
            <p:blipFill>
              <a:blip r:embed="rId4"/>
              <a:stretch>
                <a:fillRect/>
              </a:stretch>
            </p:blipFill>
            <p:spPr>
              <a:xfrm>
                <a:off x="269823" y="1166977"/>
                <a:ext cx="12600" cy="12600"/>
              </a:xfrm>
              <a:prstGeom prst="rect">
                <a:avLst/>
              </a:prstGeom>
            </p:spPr>
          </p:pic>
        </mc:Fallback>
      </mc:AlternateContent>
      <p:sp>
        <p:nvSpPr>
          <p:cNvPr id="11" name="TextBox 10">
            <a:extLst>
              <a:ext uri="{FF2B5EF4-FFF2-40B4-BE49-F238E27FC236}">
                <a16:creationId xmlns:a16="http://schemas.microsoft.com/office/drawing/2014/main" id="{ABF2522A-065C-5ACB-594D-D0BBF3A92F73}"/>
              </a:ext>
            </a:extLst>
          </p:cNvPr>
          <p:cNvSpPr txBox="1"/>
          <p:nvPr/>
        </p:nvSpPr>
        <p:spPr>
          <a:xfrm>
            <a:off x="3767409" y="4593397"/>
            <a:ext cx="6449962" cy="861774"/>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23AID305-Control</a:t>
            </a:r>
            <a:r>
              <a:rPr lang="en-IN" sz="3200" dirty="0"/>
              <a:t> Systems</a:t>
            </a:r>
          </a:p>
          <a:p>
            <a:endParaRPr lang="en-IN" dirty="0"/>
          </a:p>
        </p:txBody>
      </p:sp>
    </p:spTree>
    <p:extLst>
      <p:ext uri="{BB962C8B-B14F-4D97-AF65-F5344CB8AC3E}">
        <p14:creationId xmlns:p14="http://schemas.microsoft.com/office/powerpoint/2010/main" val="352305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328" y="605429"/>
            <a:ext cx="3778370" cy="1143000"/>
          </a:xfrm>
        </p:spPr>
        <p:txBody>
          <a:bodyPr>
            <a:noAutofit/>
          </a:bodyPr>
          <a:lstStyle/>
          <a:p>
            <a:r>
              <a:rPr lang="en-US" dirty="0"/>
              <a:t>Team Members </a:t>
            </a:r>
            <a:endParaRPr lang="en-IN" dirty="0"/>
          </a:p>
        </p:txBody>
      </p:sp>
      <p:sp>
        <p:nvSpPr>
          <p:cNvPr id="3" name="Content Placeholder 2"/>
          <p:cNvSpPr>
            <a:spLocks noGrp="1"/>
          </p:cNvSpPr>
          <p:nvPr>
            <p:ph idx="1"/>
          </p:nvPr>
        </p:nvSpPr>
        <p:spPr>
          <a:xfrm>
            <a:off x="801327" y="2353857"/>
            <a:ext cx="6238570" cy="2473781"/>
          </a:xfrm>
        </p:spPr>
        <p:txBody>
          <a:bodyPr>
            <a:noAutofit/>
          </a:bodyPr>
          <a:lstStyle/>
          <a:p>
            <a:r>
              <a:rPr lang="en-IN" sz="2400" dirty="0"/>
              <a:t>Sandeep </a:t>
            </a:r>
            <a:r>
              <a:rPr lang="en-IN" sz="2400" dirty="0" err="1"/>
              <a:t>Srr</a:t>
            </a:r>
            <a:r>
              <a:rPr lang="en-IN" sz="2400" dirty="0"/>
              <a:t> CB.AI.U4AID23140 </a:t>
            </a:r>
          </a:p>
          <a:p>
            <a:r>
              <a:rPr lang="en-IN" sz="2400" dirty="0"/>
              <a:t> </a:t>
            </a:r>
            <a:r>
              <a:rPr lang="en-IN" sz="2400" dirty="0" err="1"/>
              <a:t>SivaSai</a:t>
            </a:r>
            <a:r>
              <a:rPr lang="en-IN" sz="2400" dirty="0"/>
              <a:t> Kumar CB.AI.U4AID23156  </a:t>
            </a:r>
          </a:p>
          <a:p>
            <a:r>
              <a:rPr lang="en-IN" sz="2400" dirty="0"/>
              <a:t>Mahadev Naidu CB.AI.U4AID23111</a:t>
            </a:r>
          </a:p>
          <a:p>
            <a:r>
              <a:rPr lang="en-IN" sz="2400" dirty="0"/>
              <a:t> Manoj Kumar CB.AI.U4AID23161</a:t>
            </a:r>
          </a:p>
        </p:txBody>
      </p:sp>
      <p:pic>
        <p:nvPicPr>
          <p:cNvPr id="5" name="Picture 4"/>
          <p:cNvPicPr>
            <a:picLocks noChangeAspect="1"/>
          </p:cNvPicPr>
          <p:nvPr/>
        </p:nvPicPr>
        <p:blipFill>
          <a:blip r:embed="rId2"/>
          <a:stretch>
            <a:fillRect/>
          </a:stretch>
        </p:blipFill>
        <p:spPr>
          <a:xfrm>
            <a:off x="5672866" y="0"/>
            <a:ext cx="6519134" cy="73559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BB01DC-19BD-1598-E6CE-7332E192EC25}"/>
              </a:ext>
            </a:extLst>
          </p:cNvPr>
          <p:cNvSpPr/>
          <p:nvPr/>
        </p:nvSpPr>
        <p:spPr>
          <a:xfrm>
            <a:off x="370936" y="270550"/>
            <a:ext cx="11602528" cy="63169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 name="TextBox 2"/>
          <p:cNvSpPr txBox="1"/>
          <p:nvPr/>
        </p:nvSpPr>
        <p:spPr>
          <a:xfrm>
            <a:off x="898495" y="1503701"/>
            <a:ext cx="4572000" cy="4401205"/>
          </a:xfrm>
          <a:prstGeom prst="rect">
            <a:avLst/>
          </a:prstGeom>
          <a:noFill/>
        </p:spPr>
        <p:txBody>
          <a:bodyPr wrap="square">
            <a:spAutoFit/>
          </a:bodyPr>
          <a:lstStyle/>
          <a:p>
            <a:pPr>
              <a:buFont typeface="Arial" panose="020B0604020202020204" pitchFamily="34" charset="0"/>
              <a:buChar char="•"/>
            </a:pPr>
            <a:r>
              <a:rPr lang="en-US" sz="2800" dirty="0"/>
              <a:t>Introduction</a:t>
            </a:r>
          </a:p>
          <a:p>
            <a:pPr>
              <a:buFont typeface="Arial" panose="020B0604020202020204" pitchFamily="34" charset="0"/>
              <a:buChar char="•"/>
            </a:pPr>
            <a:r>
              <a:rPr lang="en-US" sz="2800" dirty="0"/>
              <a:t>Literature Review</a:t>
            </a:r>
          </a:p>
          <a:p>
            <a:pPr>
              <a:buFont typeface="Arial" panose="020B0604020202020204" pitchFamily="34" charset="0"/>
              <a:buChar char="•"/>
            </a:pPr>
            <a:r>
              <a:rPr lang="en-US" sz="2800" dirty="0"/>
              <a:t>Research Gaps</a:t>
            </a:r>
          </a:p>
          <a:p>
            <a:pPr>
              <a:buFont typeface="Arial" panose="020B0604020202020204" pitchFamily="34" charset="0"/>
              <a:buChar char="•"/>
            </a:pPr>
            <a:r>
              <a:rPr lang="en-US" sz="2800" dirty="0"/>
              <a:t>Problem Statement</a:t>
            </a:r>
          </a:p>
          <a:p>
            <a:pPr>
              <a:buFont typeface="Arial" panose="020B0604020202020204" pitchFamily="34" charset="0"/>
              <a:buChar char="•"/>
            </a:pPr>
            <a:r>
              <a:rPr lang="en-US" sz="2800" dirty="0"/>
              <a:t>Objectives</a:t>
            </a:r>
          </a:p>
          <a:p>
            <a:pPr>
              <a:buFont typeface="Arial" panose="020B0604020202020204" pitchFamily="34" charset="0"/>
              <a:buChar char="•"/>
            </a:pPr>
            <a:r>
              <a:rPr lang="en-US" sz="2800" dirty="0"/>
              <a:t>Block Diagram / Flowchart</a:t>
            </a:r>
          </a:p>
          <a:p>
            <a:pPr>
              <a:buFont typeface="Arial" panose="020B0604020202020204" pitchFamily="34" charset="0"/>
              <a:buChar char="•"/>
            </a:pPr>
            <a:r>
              <a:rPr lang="en-US" sz="2800" dirty="0"/>
              <a:t>Methodology</a:t>
            </a:r>
          </a:p>
          <a:p>
            <a:pPr>
              <a:buFont typeface="Arial" panose="020B0604020202020204" pitchFamily="34" charset="0"/>
              <a:buChar char="•"/>
            </a:pPr>
            <a:r>
              <a:rPr lang="en-US" sz="2800" dirty="0"/>
              <a:t>Results &amp; Discussion</a:t>
            </a:r>
          </a:p>
          <a:p>
            <a:pPr>
              <a:buFont typeface="Arial" panose="020B0604020202020204" pitchFamily="34" charset="0"/>
              <a:buChar char="•"/>
            </a:pPr>
            <a:r>
              <a:rPr lang="en-US" sz="2800" dirty="0"/>
              <a:t>Conclusion &amp; Future Scope</a:t>
            </a:r>
          </a:p>
          <a:p>
            <a:pPr>
              <a:buFont typeface="Arial" panose="020B0604020202020204" pitchFamily="34" charset="0"/>
              <a:buChar char="•"/>
            </a:pPr>
            <a:r>
              <a:rPr lang="en-US" sz="2800" dirty="0"/>
              <a:t>References</a:t>
            </a:r>
          </a:p>
        </p:txBody>
      </p:sp>
      <p:sp>
        <p:nvSpPr>
          <p:cNvPr id="5" name="TextBox 4"/>
          <p:cNvSpPr txBox="1"/>
          <p:nvPr/>
        </p:nvSpPr>
        <p:spPr>
          <a:xfrm>
            <a:off x="898495" y="467214"/>
            <a:ext cx="4572000" cy="707886"/>
          </a:xfrm>
          <a:prstGeom prst="rect">
            <a:avLst/>
          </a:prstGeom>
          <a:noFill/>
        </p:spPr>
        <p:txBody>
          <a:bodyPr wrap="square">
            <a:spAutoFit/>
          </a:bodyPr>
          <a:lstStyle/>
          <a:p>
            <a:pPr>
              <a:buNone/>
            </a:pPr>
            <a:r>
              <a:rPr lang="en-US" sz="4000" b="1" u="sng" dirty="0"/>
              <a:t>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6731B4-3828-C2C5-8D6D-1A0557CAF784}"/>
              </a:ext>
            </a:extLst>
          </p:cNvPr>
          <p:cNvSpPr/>
          <p:nvPr/>
        </p:nvSpPr>
        <p:spPr>
          <a:xfrm>
            <a:off x="370936" y="14664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 name="TextBox 2"/>
          <p:cNvSpPr txBox="1"/>
          <p:nvPr/>
        </p:nvSpPr>
        <p:spPr>
          <a:xfrm>
            <a:off x="440130" y="146649"/>
            <a:ext cx="4572000" cy="584775"/>
          </a:xfrm>
          <a:prstGeom prst="rect">
            <a:avLst/>
          </a:prstGeom>
          <a:noFill/>
        </p:spPr>
        <p:txBody>
          <a:bodyPr wrap="square">
            <a:spAutoFit/>
          </a:bodyPr>
          <a:lstStyle/>
          <a:p>
            <a:r>
              <a:rPr lang="en-US" sz="3200" u="sng" dirty="0"/>
              <a:t>INTRODUCTION</a:t>
            </a:r>
            <a:endParaRPr lang="en-IN" sz="3200" u="sng" dirty="0"/>
          </a:p>
        </p:txBody>
      </p:sp>
      <p:sp>
        <p:nvSpPr>
          <p:cNvPr id="11" name="Rectangle 2"/>
          <p:cNvSpPr>
            <a:spLocks noChangeArrowheads="1"/>
          </p:cNvSpPr>
          <p:nvPr/>
        </p:nvSpPr>
        <p:spPr bwMode="auto">
          <a:xfrm>
            <a:off x="3746090" y="3291967"/>
            <a:ext cx="69219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US" sz="1400" dirty="0"/>
          </a:p>
          <a:p>
            <a:pPr eaLnBrk="0" fontAlgn="base" hangingPunct="0">
              <a:spcBef>
                <a:spcPct val="0"/>
              </a:spcBef>
              <a:spcAft>
                <a:spcPct val="0"/>
              </a:spcAft>
            </a:pPr>
            <a:endParaRPr lang="en-US" altLang="en-US" dirty="0"/>
          </a:p>
        </p:txBody>
      </p:sp>
      <p:sp>
        <p:nvSpPr>
          <p:cNvPr id="13" name="Rectangle 4"/>
          <p:cNvSpPr>
            <a:spLocks noChangeArrowheads="1"/>
          </p:cNvSpPr>
          <p:nvPr/>
        </p:nvSpPr>
        <p:spPr bwMode="auto">
          <a:xfrm>
            <a:off x="2079522" y="5575340"/>
            <a:ext cx="78953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base" hangingPunct="0">
              <a:spcBef>
                <a:spcPct val="0"/>
              </a:spcBef>
              <a:spcAft>
                <a:spcPct val="0"/>
              </a:spcAft>
              <a:buFontTx/>
              <a:buChar char="•"/>
            </a:pPr>
            <a:endParaRPr lang="en-US" altLang="en-US" b="1" dirty="0">
              <a:latin typeface="Arial" panose="020B0604020202020204" pitchFamily="34" charset="0"/>
            </a:endParaRPr>
          </a:p>
          <a:p>
            <a:pPr eaLnBrk="0" fontAlgn="base" hangingPunct="0">
              <a:spcBef>
                <a:spcPct val="0"/>
              </a:spcBef>
              <a:spcAft>
                <a:spcPct val="0"/>
              </a:spcAft>
              <a:buFontTx/>
              <a:buChar char="•"/>
            </a:pPr>
            <a:endParaRPr lang="en-US" altLang="en-US" dirty="0">
              <a:latin typeface="Arial" panose="020B0604020202020204" pitchFamily="34" charset="0"/>
            </a:endParaRPr>
          </a:p>
        </p:txBody>
      </p:sp>
      <p:sp>
        <p:nvSpPr>
          <p:cNvPr id="16" name="TextBox 15"/>
          <p:cNvSpPr txBox="1"/>
          <p:nvPr/>
        </p:nvSpPr>
        <p:spPr>
          <a:xfrm>
            <a:off x="523336" y="1443841"/>
            <a:ext cx="11450128" cy="4524315"/>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grid is a large-scale centralized electricity network that transmits power from generators to consumers over long distances.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 microgrid is a localized energy system that can operate independently or in conjunction with the main grid, integrating distributed energy sources like solar, wind, and batteries.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smart grid incorporates digital technology and automation to monitor, manage, and optimize the flow of electricity within both traditional grids and microgrids. </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traditional grids, microgrids are more flexible and resilient, and smart grids enable real-time control, better reliability, and energy efficiency</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t> Integration of renewable energy introduces variability and instability in power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B8A1ED-3865-E57B-B74B-3F0FA125CBE9}"/>
              </a:ext>
            </a:extLst>
          </p:cNvPr>
          <p:cNvSpPr/>
          <p:nvPr/>
        </p:nvSpPr>
        <p:spPr>
          <a:xfrm>
            <a:off x="129092" y="146977"/>
            <a:ext cx="12062908" cy="63169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1350A772-855C-4911-6846-A7C0BFC76FF3}"/>
              </a:ext>
            </a:extLst>
          </p:cNvPr>
          <p:cNvSpPr txBox="1"/>
          <p:nvPr/>
        </p:nvSpPr>
        <p:spPr>
          <a:xfrm>
            <a:off x="129092" y="193406"/>
            <a:ext cx="4572000" cy="646331"/>
          </a:xfrm>
          <a:prstGeom prst="rect">
            <a:avLst/>
          </a:prstGeom>
          <a:noFill/>
        </p:spPr>
        <p:txBody>
          <a:bodyPr wrap="square">
            <a:spAutoFit/>
          </a:bodyPr>
          <a:lstStyle/>
          <a:p>
            <a:r>
              <a:rPr lang="en-IN" sz="3600" b="1" u="sng" dirty="0"/>
              <a:t>  Literature Review</a:t>
            </a:r>
          </a:p>
        </p:txBody>
      </p:sp>
      <p:graphicFrame>
        <p:nvGraphicFramePr>
          <p:cNvPr id="5" name="Table 4">
            <a:extLst>
              <a:ext uri="{FF2B5EF4-FFF2-40B4-BE49-F238E27FC236}">
                <a16:creationId xmlns:a16="http://schemas.microsoft.com/office/drawing/2014/main" id="{D0394A5F-4054-8502-5C8F-7C9385AEBE8A}"/>
              </a:ext>
            </a:extLst>
          </p:cNvPr>
          <p:cNvGraphicFramePr>
            <a:graphicFrameLocks noGrp="1"/>
          </p:cNvGraphicFramePr>
          <p:nvPr>
            <p:extLst>
              <p:ext uri="{D42A27DB-BD31-4B8C-83A1-F6EECF244321}">
                <p14:modId xmlns:p14="http://schemas.microsoft.com/office/powerpoint/2010/main" val="3393754447"/>
              </p:ext>
            </p:extLst>
          </p:nvPr>
        </p:nvGraphicFramePr>
        <p:xfrm>
          <a:off x="1150374" y="1178378"/>
          <a:ext cx="9629058" cy="4823747"/>
        </p:xfrm>
        <a:graphic>
          <a:graphicData uri="http://schemas.openxmlformats.org/drawingml/2006/table">
            <a:tbl>
              <a:tblPr firstRow="1" bandRow="1">
                <a:tableStyleId>{5C22544A-7EE6-4342-B048-85BDC9FD1C3A}</a:tableStyleId>
              </a:tblPr>
              <a:tblGrid>
                <a:gridCol w="1101213">
                  <a:extLst>
                    <a:ext uri="{9D8B030D-6E8A-4147-A177-3AD203B41FA5}">
                      <a16:colId xmlns:a16="http://schemas.microsoft.com/office/drawing/2014/main" val="720876160"/>
                    </a:ext>
                  </a:extLst>
                </a:gridCol>
                <a:gridCol w="3755922">
                  <a:extLst>
                    <a:ext uri="{9D8B030D-6E8A-4147-A177-3AD203B41FA5}">
                      <a16:colId xmlns:a16="http://schemas.microsoft.com/office/drawing/2014/main" val="3211537705"/>
                    </a:ext>
                  </a:extLst>
                </a:gridCol>
                <a:gridCol w="4771923">
                  <a:extLst>
                    <a:ext uri="{9D8B030D-6E8A-4147-A177-3AD203B41FA5}">
                      <a16:colId xmlns:a16="http://schemas.microsoft.com/office/drawing/2014/main" val="3913566787"/>
                    </a:ext>
                  </a:extLst>
                </a:gridCol>
              </a:tblGrid>
              <a:tr h="599768">
                <a:tc>
                  <a:txBody>
                    <a:bodyPr/>
                    <a:lstStyle/>
                    <a:p>
                      <a:r>
                        <a:rPr lang="en-IN" dirty="0"/>
                        <a:t>S.NO</a:t>
                      </a:r>
                    </a:p>
                  </a:txBody>
                  <a:tcPr/>
                </a:tc>
                <a:tc>
                  <a:txBody>
                    <a:bodyPr/>
                    <a:lstStyle/>
                    <a:p>
                      <a:r>
                        <a:rPr lang="en-IN" dirty="0"/>
                        <a:t>Title &amp; Author</a:t>
                      </a:r>
                    </a:p>
                  </a:txBody>
                  <a:tcPr/>
                </a:tc>
                <a:tc>
                  <a:txBody>
                    <a:bodyPr/>
                    <a:lstStyle/>
                    <a:p>
                      <a:r>
                        <a:rPr lang="en-IN" dirty="0"/>
                        <a:t>Key Insight</a:t>
                      </a:r>
                    </a:p>
                  </a:txBody>
                  <a:tcPr/>
                </a:tc>
                <a:extLst>
                  <a:ext uri="{0D108BD9-81ED-4DB2-BD59-A6C34878D82A}">
                    <a16:rowId xmlns:a16="http://schemas.microsoft.com/office/drawing/2014/main" val="2939448893"/>
                  </a:ext>
                </a:extLst>
              </a:tr>
              <a:tr h="1407993">
                <a:tc>
                  <a:txBody>
                    <a:bodyPr/>
                    <a:lstStyle/>
                    <a:p>
                      <a:r>
                        <a:rPr lang="en-IN" dirty="0"/>
                        <a:t>1.</a:t>
                      </a:r>
                    </a:p>
                  </a:txBody>
                  <a:tcPr/>
                </a:tc>
                <a:tc>
                  <a:txBody>
                    <a:bodyPr/>
                    <a:lstStyle/>
                    <a:p>
                      <a:r>
                        <a:rPr lang="en-IN" dirty="0"/>
                        <a:t>GWCSO-based EMS</a:t>
                      </a:r>
                    </a:p>
                  </a:txBody>
                  <a:tcPr/>
                </a:tc>
                <a:tc>
                  <a:txBody>
                    <a:bodyPr/>
                    <a:lstStyle/>
                    <a:p>
                      <a:r>
                        <a:rPr lang="en-US" dirty="0"/>
                        <a:t>Grey wolf crow search used for EMS in RES-based microgrids. Focused on sizing/optimization. Limitation: No real-time control or price-feedback. </a:t>
                      </a:r>
                      <a:endParaRPr lang="en-IN" dirty="0"/>
                    </a:p>
                  </a:txBody>
                  <a:tcPr/>
                </a:tc>
                <a:extLst>
                  <a:ext uri="{0D108BD9-81ED-4DB2-BD59-A6C34878D82A}">
                    <a16:rowId xmlns:a16="http://schemas.microsoft.com/office/drawing/2014/main" val="582640887"/>
                  </a:ext>
                </a:extLst>
              </a:tr>
              <a:tr h="1407993">
                <a:tc>
                  <a:txBody>
                    <a:bodyPr/>
                    <a:lstStyle/>
                    <a:p>
                      <a:r>
                        <a:rPr lang="en-IN" dirty="0"/>
                        <a:t>2.</a:t>
                      </a:r>
                    </a:p>
                  </a:txBody>
                  <a:tcPr/>
                </a:tc>
                <a:tc>
                  <a:txBody>
                    <a:bodyPr/>
                    <a:lstStyle/>
                    <a:p>
                      <a:r>
                        <a:rPr lang="en-IN" dirty="0"/>
                        <a:t>Hybrid GA-PSO EMS</a:t>
                      </a:r>
                    </a:p>
                  </a:txBody>
                  <a:tcPr/>
                </a:tc>
                <a:tc>
                  <a:txBody>
                    <a:bodyPr/>
                    <a:lstStyle/>
                    <a:p>
                      <a:r>
                        <a:rPr lang="en-US" dirty="0"/>
                        <a:t>GA and PSO for hybrid microgrid energy optimization under uncertainty. </a:t>
                      </a:r>
                    </a:p>
                    <a:p>
                      <a:r>
                        <a:rPr lang="en-US" dirty="0"/>
                        <a:t>Limitation: No feedback-based demand control. </a:t>
                      </a:r>
                      <a:endParaRPr lang="en-IN" dirty="0"/>
                    </a:p>
                  </a:txBody>
                  <a:tcPr/>
                </a:tc>
                <a:extLst>
                  <a:ext uri="{0D108BD9-81ED-4DB2-BD59-A6C34878D82A}">
                    <a16:rowId xmlns:a16="http://schemas.microsoft.com/office/drawing/2014/main" val="247250331"/>
                  </a:ext>
                </a:extLst>
              </a:tr>
              <a:tr h="1407993">
                <a:tc>
                  <a:txBody>
                    <a:bodyPr/>
                    <a:lstStyle/>
                    <a:p>
                      <a:r>
                        <a:rPr lang="en-IN" dirty="0"/>
                        <a:t>3.</a:t>
                      </a:r>
                    </a:p>
                  </a:txBody>
                  <a:tcPr/>
                </a:tc>
                <a:tc>
                  <a:txBody>
                    <a:bodyPr/>
                    <a:lstStyle/>
                    <a:p>
                      <a:r>
                        <a:rPr lang="en-US" dirty="0"/>
                        <a:t>MILP for energy cost reduction</a:t>
                      </a:r>
                      <a:endParaRPr lang="en-IN" dirty="0"/>
                    </a:p>
                  </a:txBody>
                  <a:tcPr/>
                </a:tc>
                <a:tc>
                  <a:txBody>
                    <a:bodyPr/>
                    <a:lstStyle/>
                    <a:p>
                      <a:r>
                        <a:rPr lang="en-US" dirty="0"/>
                        <a:t>MILP model applied to minimize operational costs in microgrid dispatch. </a:t>
                      </a:r>
                    </a:p>
                    <a:p>
                      <a:r>
                        <a:rPr lang="en-US" dirty="0"/>
                        <a:t> Limitation: Not real-time; static assumptions. </a:t>
                      </a:r>
                      <a:endParaRPr lang="en-IN" dirty="0"/>
                    </a:p>
                  </a:txBody>
                  <a:tcPr/>
                </a:tc>
                <a:extLst>
                  <a:ext uri="{0D108BD9-81ED-4DB2-BD59-A6C34878D82A}">
                    <a16:rowId xmlns:a16="http://schemas.microsoft.com/office/drawing/2014/main" val="87858424"/>
                  </a:ext>
                </a:extLst>
              </a:tr>
            </a:tbl>
          </a:graphicData>
        </a:graphic>
      </p:graphicFrame>
    </p:spTree>
    <p:extLst>
      <p:ext uri="{BB962C8B-B14F-4D97-AF65-F5344CB8AC3E}">
        <p14:creationId xmlns:p14="http://schemas.microsoft.com/office/powerpoint/2010/main" val="2836517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1425B-E9BA-9BD0-201B-F53AEDDE06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72FE12-F80C-5B6F-9C08-98F43A7690F7}"/>
              </a:ext>
            </a:extLst>
          </p:cNvPr>
          <p:cNvSpPr/>
          <p:nvPr/>
        </p:nvSpPr>
        <p:spPr>
          <a:xfrm>
            <a:off x="129092" y="270550"/>
            <a:ext cx="11844372" cy="63169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D371720E-2048-4146-476D-DF8ED250E88A}"/>
              </a:ext>
            </a:extLst>
          </p:cNvPr>
          <p:cNvSpPr txBox="1"/>
          <p:nvPr/>
        </p:nvSpPr>
        <p:spPr>
          <a:xfrm>
            <a:off x="394563" y="270550"/>
            <a:ext cx="4572000" cy="646331"/>
          </a:xfrm>
          <a:prstGeom prst="rect">
            <a:avLst/>
          </a:prstGeom>
          <a:noFill/>
        </p:spPr>
        <p:txBody>
          <a:bodyPr wrap="square">
            <a:spAutoFit/>
          </a:bodyPr>
          <a:lstStyle/>
          <a:p>
            <a:r>
              <a:rPr lang="en-IN" sz="3600" b="1" u="sng" dirty="0">
                <a:latin typeface="Times New Roman" panose="02020603050405020304" pitchFamily="18" charset="0"/>
                <a:cs typeface="Times New Roman" panose="02020603050405020304" pitchFamily="18" charset="0"/>
              </a:rPr>
              <a:t>Literature Review</a:t>
            </a:r>
          </a:p>
        </p:txBody>
      </p:sp>
      <p:graphicFrame>
        <p:nvGraphicFramePr>
          <p:cNvPr id="5" name="Table 4">
            <a:extLst>
              <a:ext uri="{FF2B5EF4-FFF2-40B4-BE49-F238E27FC236}">
                <a16:creationId xmlns:a16="http://schemas.microsoft.com/office/drawing/2014/main" id="{DE03F464-36F2-4A8C-5398-FECA7BCD4771}"/>
              </a:ext>
            </a:extLst>
          </p:cNvPr>
          <p:cNvGraphicFramePr>
            <a:graphicFrameLocks noGrp="1"/>
          </p:cNvGraphicFramePr>
          <p:nvPr>
            <p:extLst>
              <p:ext uri="{D42A27DB-BD31-4B8C-83A1-F6EECF244321}">
                <p14:modId xmlns:p14="http://schemas.microsoft.com/office/powerpoint/2010/main" val="848331394"/>
              </p:ext>
            </p:extLst>
          </p:nvPr>
        </p:nvGraphicFramePr>
        <p:xfrm>
          <a:off x="1236749" y="1254739"/>
          <a:ext cx="9629058" cy="4831669"/>
        </p:xfrm>
        <a:graphic>
          <a:graphicData uri="http://schemas.openxmlformats.org/drawingml/2006/table">
            <a:tbl>
              <a:tblPr firstRow="1" bandRow="1">
                <a:tableStyleId>{5C22544A-7EE6-4342-B048-85BDC9FD1C3A}</a:tableStyleId>
              </a:tblPr>
              <a:tblGrid>
                <a:gridCol w="1101213">
                  <a:extLst>
                    <a:ext uri="{9D8B030D-6E8A-4147-A177-3AD203B41FA5}">
                      <a16:colId xmlns:a16="http://schemas.microsoft.com/office/drawing/2014/main" val="720876160"/>
                    </a:ext>
                  </a:extLst>
                </a:gridCol>
                <a:gridCol w="3755922">
                  <a:extLst>
                    <a:ext uri="{9D8B030D-6E8A-4147-A177-3AD203B41FA5}">
                      <a16:colId xmlns:a16="http://schemas.microsoft.com/office/drawing/2014/main" val="3211537705"/>
                    </a:ext>
                  </a:extLst>
                </a:gridCol>
                <a:gridCol w="4771923">
                  <a:extLst>
                    <a:ext uri="{9D8B030D-6E8A-4147-A177-3AD203B41FA5}">
                      <a16:colId xmlns:a16="http://schemas.microsoft.com/office/drawing/2014/main" val="3913566787"/>
                    </a:ext>
                  </a:extLst>
                </a:gridCol>
              </a:tblGrid>
              <a:tr h="607690">
                <a:tc>
                  <a:txBody>
                    <a:bodyPr/>
                    <a:lstStyle/>
                    <a:p>
                      <a:r>
                        <a:rPr lang="en-IN" dirty="0"/>
                        <a:t>S.NO</a:t>
                      </a:r>
                    </a:p>
                  </a:txBody>
                  <a:tcPr/>
                </a:tc>
                <a:tc>
                  <a:txBody>
                    <a:bodyPr/>
                    <a:lstStyle/>
                    <a:p>
                      <a:r>
                        <a:rPr lang="en-IN" dirty="0"/>
                        <a:t>Title &amp; Author</a:t>
                      </a:r>
                    </a:p>
                  </a:txBody>
                  <a:tcPr/>
                </a:tc>
                <a:tc>
                  <a:txBody>
                    <a:bodyPr/>
                    <a:lstStyle/>
                    <a:p>
                      <a:r>
                        <a:rPr lang="en-IN" dirty="0"/>
                        <a:t>Key Insight</a:t>
                      </a:r>
                    </a:p>
                  </a:txBody>
                  <a:tcPr/>
                </a:tc>
                <a:extLst>
                  <a:ext uri="{0D108BD9-81ED-4DB2-BD59-A6C34878D82A}">
                    <a16:rowId xmlns:a16="http://schemas.microsoft.com/office/drawing/2014/main" val="2939448893"/>
                  </a:ext>
                </a:extLst>
              </a:tr>
              <a:tr h="1407993">
                <a:tc>
                  <a:txBody>
                    <a:bodyPr/>
                    <a:lstStyle/>
                    <a:p>
                      <a:r>
                        <a:rPr lang="en-IN" dirty="0"/>
                        <a:t>4.</a:t>
                      </a:r>
                    </a:p>
                  </a:txBody>
                  <a:tcPr/>
                </a:tc>
                <a:tc>
                  <a:txBody>
                    <a:bodyPr/>
                    <a:lstStyle/>
                    <a:p>
                      <a:r>
                        <a:rPr lang="en-IN" dirty="0"/>
                        <a:t>Gravitational + PSO MOO</a:t>
                      </a:r>
                    </a:p>
                  </a:txBody>
                  <a:tcPr/>
                </a:tc>
                <a:tc>
                  <a:txBody>
                    <a:bodyPr/>
                    <a:lstStyle/>
                    <a:p>
                      <a:r>
                        <a:rPr lang="en-US" dirty="0"/>
                        <a:t>Solved emission-cost trade-off in dispatch using multi-objective optimization.</a:t>
                      </a:r>
                    </a:p>
                    <a:p>
                      <a:r>
                        <a:rPr lang="en-US" dirty="0"/>
                        <a:t> Limitation: No demand-side elasticity integration. </a:t>
                      </a:r>
                      <a:endParaRPr lang="en-IN" dirty="0"/>
                    </a:p>
                  </a:txBody>
                  <a:tcPr/>
                </a:tc>
                <a:extLst>
                  <a:ext uri="{0D108BD9-81ED-4DB2-BD59-A6C34878D82A}">
                    <a16:rowId xmlns:a16="http://schemas.microsoft.com/office/drawing/2014/main" val="582640887"/>
                  </a:ext>
                </a:extLst>
              </a:tr>
              <a:tr h="1407993">
                <a:tc>
                  <a:txBody>
                    <a:bodyPr/>
                    <a:lstStyle/>
                    <a:p>
                      <a:r>
                        <a:rPr lang="en-IN" dirty="0"/>
                        <a:t>5.</a:t>
                      </a:r>
                    </a:p>
                  </a:txBody>
                  <a:tcPr/>
                </a:tc>
                <a:tc>
                  <a:txBody>
                    <a:bodyPr/>
                    <a:lstStyle/>
                    <a:p>
                      <a:r>
                        <a:rPr lang="en-IN" dirty="0"/>
                        <a:t>EV charging via MAS</a:t>
                      </a:r>
                    </a:p>
                  </a:txBody>
                  <a:tcPr/>
                </a:tc>
                <a:tc>
                  <a:txBody>
                    <a:bodyPr/>
                    <a:lstStyle/>
                    <a:p>
                      <a:r>
                        <a:rPr lang="en-US" dirty="0"/>
                        <a:t>EV demand forecast using agents (SOC, weather, traffic).</a:t>
                      </a:r>
                    </a:p>
                    <a:p>
                      <a:r>
                        <a:rPr lang="en-US" dirty="0"/>
                        <a:t> Limitation: Forecasting-only; no microgrid control.. </a:t>
                      </a:r>
                      <a:endParaRPr lang="en-IN" dirty="0"/>
                    </a:p>
                  </a:txBody>
                  <a:tcPr/>
                </a:tc>
                <a:extLst>
                  <a:ext uri="{0D108BD9-81ED-4DB2-BD59-A6C34878D82A}">
                    <a16:rowId xmlns:a16="http://schemas.microsoft.com/office/drawing/2014/main" val="247250331"/>
                  </a:ext>
                </a:extLst>
              </a:tr>
              <a:tr h="1407993">
                <a:tc>
                  <a:txBody>
                    <a:bodyPr/>
                    <a:lstStyle/>
                    <a:p>
                      <a:r>
                        <a:rPr lang="en-IN" dirty="0"/>
                        <a:t>6.</a:t>
                      </a:r>
                    </a:p>
                  </a:txBody>
                  <a:tcPr/>
                </a:tc>
                <a:tc>
                  <a:txBody>
                    <a:bodyPr/>
                    <a:lstStyle/>
                    <a:p>
                      <a:r>
                        <a:rPr lang="en-IN" dirty="0"/>
                        <a:t>Classical PI for DR</a:t>
                      </a:r>
                    </a:p>
                  </a:txBody>
                  <a:tcPr/>
                </a:tc>
                <a:tc>
                  <a:txBody>
                    <a:bodyPr/>
                    <a:lstStyle/>
                    <a:p>
                      <a:r>
                        <a:rPr lang="en-US" dirty="0"/>
                        <a:t>PI control for price-based demand response. Limitation: Slow response; overshoots in dynamic systems.. </a:t>
                      </a:r>
                      <a:endParaRPr lang="en-IN" dirty="0"/>
                    </a:p>
                  </a:txBody>
                  <a:tcPr/>
                </a:tc>
                <a:extLst>
                  <a:ext uri="{0D108BD9-81ED-4DB2-BD59-A6C34878D82A}">
                    <a16:rowId xmlns:a16="http://schemas.microsoft.com/office/drawing/2014/main" val="87858424"/>
                  </a:ext>
                </a:extLst>
              </a:tr>
            </a:tbl>
          </a:graphicData>
        </a:graphic>
      </p:graphicFrame>
    </p:spTree>
    <p:extLst>
      <p:ext uri="{BB962C8B-B14F-4D97-AF65-F5344CB8AC3E}">
        <p14:creationId xmlns:p14="http://schemas.microsoft.com/office/powerpoint/2010/main" val="3796987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0AA7-6CCF-884B-6382-4D9E5B60A0A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6B37F57-4F5F-2F1B-EED5-6766B12C939C}"/>
              </a:ext>
            </a:extLst>
          </p:cNvPr>
          <p:cNvSpPr/>
          <p:nvPr/>
        </p:nvSpPr>
        <p:spPr>
          <a:xfrm>
            <a:off x="129092" y="270550"/>
            <a:ext cx="11844372" cy="63169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12D02782-1558-5D07-1712-E8F2C2285A79}"/>
              </a:ext>
            </a:extLst>
          </p:cNvPr>
          <p:cNvSpPr txBox="1"/>
          <p:nvPr/>
        </p:nvSpPr>
        <p:spPr>
          <a:xfrm>
            <a:off x="463389" y="399383"/>
            <a:ext cx="4572000" cy="646331"/>
          </a:xfrm>
          <a:prstGeom prst="rect">
            <a:avLst/>
          </a:prstGeom>
          <a:noFill/>
        </p:spPr>
        <p:txBody>
          <a:bodyPr wrap="square">
            <a:spAutoFit/>
          </a:bodyPr>
          <a:lstStyle/>
          <a:p>
            <a:r>
              <a:rPr lang="en-IN" sz="3600" b="1" u="sng"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04ED35A2-12EA-FB25-65F9-1D8F58BB99B3}"/>
              </a:ext>
            </a:extLst>
          </p:cNvPr>
          <p:cNvGraphicFramePr>
            <a:graphicFrameLocks noGrp="1"/>
          </p:cNvGraphicFramePr>
          <p:nvPr>
            <p:extLst>
              <p:ext uri="{D42A27DB-BD31-4B8C-83A1-F6EECF244321}">
                <p14:modId xmlns:p14="http://schemas.microsoft.com/office/powerpoint/2010/main" val="913818573"/>
              </p:ext>
            </p:extLst>
          </p:nvPr>
        </p:nvGraphicFramePr>
        <p:xfrm>
          <a:off x="1305575" y="1820878"/>
          <a:ext cx="9491405" cy="3015320"/>
        </p:xfrm>
        <a:graphic>
          <a:graphicData uri="http://schemas.openxmlformats.org/drawingml/2006/table">
            <a:tbl>
              <a:tblPr firstRow="1" bandRow="1">
                <a:tableStyleId>{5C22544A-7EE6-4342-B048-85BDC9FD1C3A}</a:tableStyleId>
              </a:tblPr>
              <a:tblGrid>
                <a:gridCol w="816077">
                  <a:extLst>
                    <a:ext uri="{9D8B030D-6E8A-4147-A177-3AD203B41FA5}">
                      <a16:colId xmlns:a16="http://schemas.microsoft.com/office/drawing/2014/main" val="4202576947"/>
                    </a:ext>
                  </a:extLst>
                </a:gridCol>
                <a:gridCol w="2733368">
                  <a:extLst>
                    <a:ext uri="{9D8B030D-6E8A-4147-A177-3AD203B41FA5}">
                      <a16:colId xmlns:a16="http://schemas.microsoft.com/office/drawing/2014/main" val="2306841024"/>
                    </a:ext>
                  </a:extLst>
                </a:gridCol>
                <a:gridCol w="5941960">
                  <a:extLst>
                    <a:ext uri="{9D8B030D-6E8A-4147-A177-3AD203B41FA5}">
                      <a16:colId xmlns:a16="http://schemas.microsoft.com/office/drawing/2014/main" val="3514686552"/>
                    </a:ext>
                  </a:extLst>
                </a:gridCol>
              </a:tblGrid>
              <a:tr h="676516">
                <a:tc>
                  <a:txBody>
                    <a:bodyPr/>
                    <a:lstStyle/>
                    <a:p>
                      <a:r>
                        <a:rPr lang="en-IN" dirty="0" err="1"/>
                        <a:t>S.No</a:t>
                      </a:r>
                      <a:endParaRPr lang="en-IN" dirty="0"/>
                    </a:p>
                  </a:txBody>
                  <a:tcPr/>
                </a:tc>
                <a:tc>
                  <a:txBody>
                    <a:bodyPr/>
                    <a:lstStyle/>
                    <a:p>
                      <a:r>
                        <a:rPr lang="en-IN" dirty="0"/>
                        <a:t>Title &amp; Author</a:t>
                      </a:r>
                    </a:p>
                  </a:txBody>
                  <a:tcPr/>
                </a:tc>
                <a:tc>
                  <a:txBody>
                    <a:bodyPr/>
                    <a:lstStyle/>
                    <a:p>
                      <a:r>
                        <a:rPr lang="en-IN" dirty="0"/>
                        <a:t>Key Insight </a:t>
                      </a:r>
                    </a:p>
                  </a:txBody>
                  <a:tcPr/>
                </a:tc>
                <a:extLst>
                  <a:ext uri="{0D108BD9-81ED-4DB2-BD59-A6C34878D82A}">
                    <a16:rowId xmlns:a16="http://schemas.microsoft.com/office/drawing/2014/main" val="1789048144"/>
                  </a:ext>
                </a:extLst>
              </a:tr>
              <a:tr h="1169402">
                <a:tc>
                  <a:txBody>
                    <a:bodyPr/>
                    <a:lstStyle/>
                    <a:p>
                      <a:r>
                        <a:rPr lang="en-IN" dirty="0"/>
                        <a:t>7.</a:t>
                      </a:r>
                    </a:p>
                  </a:txBody>
                  <a:tcPr/>
                </a:tc>
                <a:tc>
                  <a:txBody>
                    <a:bodyPr/>
                    <a:lstStyle/>
                    <a:p>
                      <a:r>
                        <a:rPr lang="en-IN" dirty="0"/>
                        <a:t>FOPI Controller</a:t>
                      </a:r>
                    </a:p>
                  </a:txBody>
                  <a:tcPr/>
                </a:tc>
                <a:tc>
                  <a:txBody>
                    <a:bodyPr/>
                    <a:lstStyle/>
                    <a:p>
                      <a:r>
                        <a:rPr lang="en-US" dirty="0"/>
                        <a:t>Fractional-order PI improves flexibility in dynamic pricing. Limitation: Complex and lacks </a:t>
                      </a:r>
                      <a:r>
                        <a:rPr lang="en-US" dirty="0" err="1"/>
                        <a:t>realtime</a:t>
                      </a:r>
                      <a:r>
                        <a:rPr lang="en-US" dirty="0"/>
                        <a:t> adaptability. </a:t>
                      </a:r>
                      <a:endParaRPr lang="en-IN" dirty="0"/>
                    </a:p>
                  </a:txBody>
                  <a:tcPr/>
                </a:tc>
                <a:extLst>
                  <a:ext uri="{0D108BD9-81ED-4DB2-BD59-A6C34878D82A}">
                    <a16:rowId xmlns:a16="http://schemas.microsoft.com/office/drawing/2014/main" val="762922499"/>
                  </a:ext>
                </a:extLst>
              </a:tr>
              <a:tr h="1169402">
                <a:tc>
                  <a:txBody>
                    <a:bodyPr/>
                    <a:lstStyle/>
                    <a:p>
                      <a:r>
                        <a:rPr lang="en-IN" dirty="0"/>
                        <a:t>8.</a:t>
                      </a:r>
                    </a:p>
                  </a:txBody>
                  <a:tcPr/>
                </a:tc>
                <a:tc>
                  <a:txBody>
                    <a:bodyPr/>
                    <a:lstStyle/>
                    <a:p>
                      <a:r>
                        <a:rPr lang="en-IN" dirty="0"/>
                        <a:t>WOA-optimized FOPI</a:t>
                      </a:r>
                    </a:p>
                  </a:txBody>
                  <a:tcPr/>
                </a:tc>
                <a:tc>
                  <a:txBody>
                    <a:bodyPr/>
                    <a:lstStyle/>
                    <a:p>
                      <a:r>
                        <a:rPr lang="en-US" dirty="0"/>
                        <a:t>Whale Optimization tuned FOPI in multi-source grids. Limitation: Good for frequency control, but no real-time price-feedback.</a:t>
                      </a:r>
                      <a:endParaRPr lang="en-IN" dirty="0"/>
                    </a:p>
                  </a:txBody>
                  <a:tcPr/>
                </a:tc>
                <a:extLst>
                  <a:ext uri="{0D108BD9-81ED-4DB2-BD59-A6C34878D82A}">
                    <a16:rowId xmlns:a16="http://schemas.microsoft.com/office/drawing/2014/main" val="3058362861"/>
                  </a:ext>
                </a:extLst>
              </a:tr>
            </a:tbl>
          </a:graphicData>
        </a:graphic>
      </p:graphicFrame>
    </p:spTree>
    <p:extLst>
      <p:ext uri="{BB962C8B-B14F-4D97-AF65-F5344CB8AC3E}">
        <p14:creationId xmlns:p14="http://schemas.microsoft.com/office/powerpoint/2010/main" val="3066217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82ADDD-1213-6278-7EE9-4BBC899BF5E6}"/>
              </a:ext>
            </a:extLst>
          </p:cNvPr>
          <p:cNvSpPr/>
          <p:nvPr/>
        </p:nvSpPr>
        <p:spPr>
          <a:xfrm>
            <a:off x="294736" y="270550"/>
            <a:ext cx="11602528" cy="63169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 name="TextBox 2"/>
          <p:cNvSpPr txBox="1"/>
          <p:nvPr/>
        </p:nvSpPr>
        <p:spPr>
          <a:xfrm>
            <a:off x="836526" y="459254"/>
            <a:ext cx="4572000" cy="646331"/>
          </a:xfrm>
          <a:prstGeom prst="rect">
            <a:avLst/>
          </a:prstGeom>
          <a:noFill/>
        </p:spPr>
        <p:txBody>
          <a:bodyPr wrap="square">
            <a:spAutoFit/>
          </a:bodyPr>
          <a:lstStyle/>
          <a:p>
            <a:r>
              <a:rPr lang="en-IN" sz="3600" b="1" u="sng" dirty="0">
                <a:latin typeface="Times New Roman" panose="02020603050405020304" pitchFamily="18" charset="0"/>
                <a:cs typeface="Times New Roman" panose="02020603050405020304" pitchFamily="18" charset="0"/>
              </a:rPr>
              <a:t>Research Gaps</a:t>
            </a:r>
          </a:p>
        </p:txBody>
      </p:sp>
      <p:sp>
        <p:nvSpPr>
          <p:cNvPr id="7" name="TextBox 6"/>
          <p:cNvSpPr txBox="1"/>
          <p:nvPr/>
        </p:nvSpPr>
        <p:spPr>
          <a:xfrm>
            <a:off x="752560" y="1238111"/>
            <a:ext cx="10686880" cy="3785652"/>
          </a:xfrm>
          <a:prstGeom prst="rect">
            <a:avLst/>
          </a:prstGeom>
          <a:noFill/>
        </p:spPr>
        <p:txBody>
          <a:bodyPr wrap="square">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Traditional PI/FOPI controllers lack adaptability under nonlinear renewable and load dynamics.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Sliding Mode Control suffers from chattering; STSMC is rarely applied in real-time energy pricing.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ACO remains underutilized for tuning nonlinear controllers like STSMC in microgrid applications.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Dynamic pricing is often static; few studies link it with control-driven demand response.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Limited work exists on adaptive, Simulink-based frameworks integrating control and optimization.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E244D8-D4E7-C003-4058-A033035C3C25}"/>
              </a:ext>
            </a:extLst>
          </p:cNvPr>
          <p:cNvSpPr/>
          <p:nvPr/>
        </p:nvSpPr>
        <p:spPr>
          <a:xfrm>
            <a:off x="370936" y="14664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02F1A750-AA01-4074-CD66-364EFA5346C6}"/>
              </a:ext>
            </a:extLst>
          </p:cNvPr>
          <p:cNvSpPr txBox="1"/>
          <p:nvPr/>
        </p:nvSpPr>
        <p:spPr>
          <a:xfrm>
            <a:off x="1103902" y="589937"/>
            <a:ext cx="3940046"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Project Objective</a:t>
            </a:r>
          </a:p>
        </p:txBody>
      </p:sp>
      <p:sp>
        <p:nvSpPr>
          <p:cNvPr id="4" name="TextBox 3">
            <a:extLst>
              <a:ext uri="{FF2B5EF4-FFF2-40B4-BE49-F238E27FC236}">
                <a16:creationId xmlns:a16="http://schemas.microsoft.com/office/drawing/2014/main" id="{1EEFDFC7-B5F2-8FC9-27F0-6ED1E28D81B2}"/>
              </a:ext>
            </a:extLst>
          </p:cNvPr>
          <p:cNvSpPr txBox="1"/>
          <p:nvPr/>
        </p:nvSpPr>
        <p:spPr>
          <a:xfrm>
            <a:off x="766916" y="1494888"/>
            <a:ext cx="10579510" cy="2308324"/>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Develop a closed-loop system to maintain supply-demand balance in a microgrid.</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Regulate consumer demand dynamically using price as a control signal. </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Optimize controller parameters using a metaheuristic algorithm</a:t>
            </a:r>
            <a:r>
              <a:rPr lang="en-IN" dirty="0"/>
              <a:t>.</a:t>
            </a:r>
          </a:p>
        </p:txBody>
      </p:sp>
    </p:spTree>
    <p:extLst>
      <p:ext uri="{BB962C8B-B14F-4D97-AF65-F5344CB8AC3E}">
        <p14:creationId xmlns:p14="http://schemas.microsoft.com/office/powerpoint/2010/main" val="388129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02F48-0F65-C3DD-BA86-C51BC3B961D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4652B3A-1756-C2B6-3E93-8B6704D9A967}"/>
              </a:ext>
            </a:extLst>
          </p:cNvPr>
          <p:cNvSpPr/>
          <p:nvPr/>
        </p:nvSpPr>
        <p:spPr>
          <a:xfrm>
            <a:off x="370936" y="14664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56D5A831-3C8D-893C-BB60-9ECBBFC53D43}"/>
              </a:ext>
            </a:extLst>
          </p:cNvPr>
          <p:cNvSpPr txBox="1"/>
          <p:nvPr/>
        </p:nvSpPr>
        <p:spPr>
          <a:xfrm>
            <a:off x="560439" y="471948"/>
            <a:ext cx="4424516"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D0EDD851-FA0E-74DC-8D7C-EF7C5DBA8232}"/>
              </a:ext>
            </a:extLst>
          </p:cNvPr>
          <p:cNvSpPr txBox="1"/>
          <p:nvPr/>
        </p:nvSpPr>
        <p:spPr>
          <a:xfrm>
            <a:off x="825910" y="1720645"/>
            <a:ext cx="9271819"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integration of </a:t>
            </a:r>
            <a:r>
              <a:rPr lang="en-US" sz="2400" b="1" dirty="0"/>
              <a:t>renewable energy sources</a:t>
            </a:r>
            <a:r>
              <a:rPr lang="en-US" sz="2400" dirty="0"/>
              <a:t> like </a:t>
            </a:r>
            <a:r>
              <a:rPr lang="en-US" sz="2400" b="1" dirty="0"/>
              <a:t>solar and wind</a:t>
            </a:r>
            <a:r>
              <a:rPr lang="en-US" sz="2400" dirty="0"/>
              <a:t> into microgrids increases </a:t>
            </a:r>
            <a:r>
              <a:rPr lang="en-US" sz="2400" b="1" dirty="0"/>
              <a:t>variability and unpredictability</a:t>
            </a:r>
            <a:r>
              <a:rPr lang="en-US" sz="2400" dirty="0"/>
              <a:t> in power generation.</a:t>
            </a:r>
          </a:p>
          <a:p>
            <a:pPr marL="342900" indent="-342900">
              <a:buFont typeface="Arial" panose="020B0604020202020204" pitchFamily="34" charset="0"/>
              <a:buChar char="•"/>
            </a:pPr>
            <a:r>
              <a:rPr lang="en-US" sz="2400" b="1" dirty="0"/>
              <a:t>Consumer demand</a:t>
            </a:r>
            <a:r>
              <a:rPr lang="en-US" sz="2400" dirty="0"/>
              <a:t> changes dynamically, adding further complexity to the system.</a:t>
            </a:r>
          </a:p>
          <a:p>
            <a:pPr marL="342900" indent="-342900">
              <a:buFont typeface="Arial" panose="020B0604020202020204" pitchFamily="34" charset="0"/>
              <a:buChar char="•"/>
            </a:pPr>
            <a:r>
              <a:rPr lang="en-US" sz="2400" dirty="0"/>
              <a:t>These factors make </a:t>
            </a:r>
            <a:r>
              <a:rPr lang="en-US" sz="2400" b="1" dirty="0"/>
              <a:t>real-time energy balancing</a:t>
            </a:r>
            <a:r>
              <a:rPr lang="en-US" sz="2400" dirty="0"/>
              <a:t> a major challenge.</a:t>
            </a:r>
          </a:p>
          <a:p>
            <a:pPr marL="342900" indent="-342900">
              <a:buFont typeface="Arial" panose="020B0604020202020204" pitchFamily="34" charset="0"/>
              <a:buChar char="•"/>
            </a:pPr>
            <a:r>
              <a:rPr lang="en-US" sz="2400" b="1" dirty="0"/>
              <a:t>Traditional control methods</a:t>
            </a:r>
            <a:r>
              <a:rPr lang="en-US" sz="2400" dirty="0"/>
              <a:t> often lack the </a:t>
            </a:r>
            <a:r>
              <a:rPr lang="en-US" sz="2400" b="1" dirty="0"/>
              <a:t>robustness</a:t>
            </a:r>
            <a:r>
              <a:rPr lang="en-US" sz="2400" dirty="0"/>
              <a:t> and </a:t>
            </a:r>
            <a:r>
              <a:rPr lang="en-US" sz="2400" b="1" dirty="0"/>
              <a:t>adaptability</a:t>
            </a:r>
            <a:r>
              <a:rPr lang="en-US" sz="2400" dirty="0"/>
              <a:t> required to handle such </a:t>
            </a:r>
            <a:r>
              <a:rPr lang="en-US" sz="2400" b="1" dirty="0"/>
              <a:t>nonlinear and uncertain environments</a:t>
            </a:r>
            <a:r>
              <a:rPr lang="en-US" sz="2400" dirty="0"/>
              <a:t>.</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923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5138F-5FEC-F0A2-7462-90C19CED9D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65EE570-3FC4-6273-18C3-872C0D48F676}"/>
              </a:ext>
            </a:extLst>
          </p:cNvPr>
          <p:cNvSpPr/>
          <p:nvPr/>
        </p:nvSpPr>
        <p:spPr>
          <a:xfrm>
            <a:off x="370936" y="14664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pic>
        <p:nvPicPr>
          <p:cNvPr id="4" name="Picture 3">
            <a:extLst>
              <a:ext uri="{FF2B5EF4-FFF2-40B4-BE49-F238E27FC236}">
                <a16:creationId xmlns:a16="http://schemas.microsoft.com/office/drawing/2014/main" id="{52647151-854F-511C-9B43-A49AF7A1A8AE}"/>
              </a:ext>
            </a:extLst>
          </p:cNvPr>
          <p:cNvPicPr>
            <a:picLocks noChangeAspect="1"/>
          </p:cNvPicPr>
          <p:nvPr/>
        </p:nvPicPr>
        <p:blipFill>
          <a:blip r:embed="rId2"/>
          <a:stretch>
            <a:fillRect/>
          </a:stretch>
        </p:blipFill>
        <p:spPr>
          <a:xfrm>
            <a:off x="4634917" y="877969"/>
            <a:ext cx="3270218" cy="5506924"/>
          </a:xfrm>
          <a:prstGeom prst="rect">
            <a:avLst/>
          </a:prstGeom>
        </p:spPr>
      </p:pic>
      <p:sp>
        <p:nvSpPr>
          <p:cNvPr id="6" name="TextBox 5">
            <a:extLst>
              <a:ext uri="{FF2B5EF4-FFF2-40B4-BE49-F238E27FC236}">
                <a16:creationId xmlns:a16="http://schemas.microsoft.com/office/drawing/2014/main" id="{51648A6F-FA5C-299D-3363-D7E774AA7397}"/>
              </a:ext>
            </a:extLst>
          </p:cNvPr>
          <p:cNvSpPr txBox="1"/>
          <p:nvPr/>
        </p:nvSpPr>
        <p:spPr>
          <a:xfrm>
            <a:off x="619430" y="508637"/>
            <a:ext cx="388374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Workflow Overview</a:t>
            </a:r>
          </a:p>
        </p:txBody>
      </p:sp>
    </p:spTree>
    <p:extLst>
      <p:ext uri="{BB962C8B-B14F-4D97-AF65-F5344CB8AC3E}">
        <p14:creationId xmlns:p14="http://schemas.microsoft.com/office/powerpoint/2010/main" val="116168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B1AF-6BE8-32AF-114F-BE9383CE35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3CEAC50-D027-E3B4-29B4-E523047E925E}"/>
              </a:ext>
            </a:extLst>
          </p:cNvPr>
          <p:cNvSpPr/>
          <p:nvPr/>
        </p:nvSpPr>
        <p:spPr>
          <a:xfrm>
            <a:off x="370936" y="14664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pic>
        <p:nvPicPr>
          <p:cNvPr id="6" name="Picture 5">
            <a:extLst>
              <a:ext uri="{FF2B5EF4-FFF2-40B4-BE49-F238E27FC236}">
                <a16:creationId xmlns:a16="http://schemas.microsoft.com/office/drawing/2014/main" id="{03D0F699-AC03-6A5F-DD5C-845EDC1ABA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450"/>
            <a:ext cx="12192000" cy="6515100"/>
          </a:xfrm>
          <a:prstGeom prst="rect">
            <a:avLst/>
          </a:prstGeom>
        </p:spPr>
      </p:pic>
    </p:spTree>
    <p:extLst>
      <p:ext uri="{BB962C8B-B14F-4D97-AF65-F5344CB8AC3E}">
        <p14:creationId xmlns:p14="http://schemas.microsoft.com/office/powerpoint/2010/main" val="3199378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0AD53-B004-B5FE-FB65-A0D35BA754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9A0E84-F132-D326-3CA7-23EF117A8764}"/>
              </a:ext>
            </a:extLst>
          </p:cNvPr>
          <p:cNvSpPr/>
          <p:nvPr/>
        </p:nvSpPr>
        <p:spPr>
          <a:xfrm>
            <a:off x="437072" y="129941"/>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dirty="0" err="1"/>
              <a:t>ste</a:t>
            </a:r>
            <a:endParaRPr lang="en-IN" dirty="0"/>
          </a:p>
        </p:txBody>
      </p:sp>
      <p:sp>
        <p:nvSpPr>
          <p:cNvPr id="3" name="Rectangle 2">
            <a:extLst>
              <a:ext uri="{FF2B5EF4-FFF2-40B4-BE49-F238E27FC236}">
                <a16:creationId xmlns:a16="http://schemas.microsoft.com/office/drawing/2014/main" id="{4312AF93-0BBC-8505-65BD-56AA3FF3DC6D}"/>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 name="Rectangle 1">
            <a:extLst>
              <a:ext uri="{FF2B5EF4-FFF2-40B4-BE49-F238E27FC236}">
                <a16:creationId xmlns:a16="http://schemas.microsoft.com/office/drawing/2014/main" id="{83B185CF-6969-FD7A-A137-1AD456701ABF}"/>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dirty="0"/>
          </a:p>
        </p:txBody>
      </p:sp>
      <p:pic>
        <p:nvPicPr>
          <p:cNvPr id="10" name="Picture 9">
            <a:extLst>
              <a:ext uri="{FF2B5EF4-FFF2-40B4-BE49-F238E27FC236}">
                <a16:creationId xmlns:a16="http://schemas.microsoft.com/office/drawing/2014/main" id="{2C44F540-0690-77D9-76CD-ABC9708EE3C7}"/>
              </a:ext>
            </a:extLst>
          </p:cNvPr>
          <p:cNvPicPr>
            <a:picLocks noChangeAspect="1"/>
          </p:cNvPicPr>
          <p:nvPr/>
        </p:nvPicPr>
        <p:blipFill>
          <a:blip r:embed="rId3"/>
          <a:stretch>
            <a:fillRect/>
          </a:stretch>
        </p:blipFill>
        <p:spPr>
          <a:xfrm>
            <a:off x="2631051" y="1369632"/>
            <a:ext cx="6656052" cy="3576905"/>
          </a:xfrm>
          <a:prstGeom prst="rect">
            <a:avLst/>
          </a:prstGeom>
        </p:spPr>
      </p:pic>
      <p:sp>
        <p:nvSpPr>
          <p:cNvPr id="11" name="TextBox 10">
            <a:extLst>
              <a:ext uri="{FF2B5EF4-FFF2-40B4-BE49-F238E27FC236}">
                <a16:creationId xmlns:a16="http://schemas.microsoft.com/office/drawing/2014/main" id="{A3B49122-BFC4-D38B-DF17-DD95EAD044AD}"/>
              </a:ext>
            </a:extLst>
          </p:cNvPr>
          <p:cNvSpPr txBox="1"/>
          <p:nvPr/>
        </p:nvSpPr>
        <p:spPr>
          <a:xfrm>
            <a:off x="629265" y="462609"/>
            <a:ext cx="755117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Sub system for DC-DC Boost Converter</a:t>
            </a:r>
          </a:p>
        </p:txBody>
      </p:sp>
    </p:spTree>
    <p:extLst>
      <p:ext uri="{BB962C8B-B14F-4D97-AF65-F5344CB8AC3E}">
        <p14:creationId xmlns:p14="http://schemas.microsoft.com/office/powerpoint/2010/main" val="2522599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07E18-F719-F813-3F8D-A1F0CEF043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B086171-F110-62F5-B99B-42B1259ACBB4}"/>
              </a:ext>
            </a:extLst>
          </p:cNvPr>
          <p:cNvSpPr/>
          <p:nvPr/>
        </p:nvSpPr>
        <p:spPr>
          <a:xfrm>
            <a:off x="294736" y="20859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Rectangle 2">
            <a:extLst>
              <a:ext uri="{FF2B5EF4-FFF2-40B4-BE49-F238E27FC236}">
                <a16:creationId xmlns:a16="http://schemas.microsoft.com/office/drawing/2014/main" id="{417ACD56-25C0-6FED-132C-347F45B396EC}"/>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 name="Rectangle 1">
            <a:extLst>
              <a:ext uri="{FF2B5EF4-FFF2-40B4-BE49-F238E27FC236}">
                <a16:creationId xmlns:a16="http://schemas.microsoft.com/office/drawing/2014/main" id="{FE50B7EF-B090-7E00-C7BB-058CFE24B37C}"/>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5798D2A9-0397-778B-774B-11BE28C60AFE}"/>
              </a:ext>
            </a:extLst>
          </p:cNvPr>
          <p:cNvPicPr>
            <a:picLocks noChangeAspect="1"/>
          </p:cNvPicPr>
          <p:nvPr/>
        </p:nvPicPr>
        <p:blipFill>
          <a:blip r:embed="rId3"/>
          <a:stretch>
            <a:fillRect/>
          </a:stretch>
        </p:blipFill>
        <p:spPr>
          <a:xfrm>
            <a:off x="2247424" y="1111044"/>
            <a:ext cx="9470408" cy="5666575"/>
          </a:xfrm>
          <a:prstGeom prst="rect">
            <a:avLst/>
          </a:prstGeom>
        </p:spPr>
      </p:pic>
      <p:sp>
        <p:nvSpPr>
          <p:cNvPr id="8" name="TextBox 7">
            <a:extLst>
              <a:ext uri="{FF2B5EF4-FFF2-40B4-BE49-F238E27FC236}">
                <a16:creationId xmlns:a16="http://schemas.microsoft.com/office/drawing/2014/main" id="{A8F7885A-78BC-2E24-9D35-E54AE3DC8F47}"/>
              </a:ext>
            </a:extLst>
          </p:cNvPr>
          <p:cNvSpPr txBox="1"/>
          <p:nvPr/>
        </p:nvSpPr>
        <p:spPr>
          <a:xfrm>
            <a:off x="599768" y="707923"/>
            <a:ext cx="603885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Sub system for MPPT </a:t>
            </a:r>
            <a:r>
              <a:rPr lang="en-IN" sz="3200" b="1" dirty="0" err="1">
                <a:latin typeface="Times New Roman" panose="02020603050405020304" pitchFamily="18" charset="0"/>
                <a:cs typeface="Times New Roman" panose="02020603050405020304" pitchFamily="18" charset="0"/>
              </a:rPr>
              <a:t>Pno</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62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366BB-58EC-FD81-4001-3C911D9E39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52A302-6081-1591-1AD5-573D05E58ED5}"/>
              </a:ext>
            </a:extLst>
          </p:cNvPr>
          <p:cNvSpPr/>
          <p:nvPr/>
        </p:nvSpPr>
        <p:spPr>
          <a:xfrm>
            <a:off x="294736" y="208598"/>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Rectangle 2">
            <a:extLst>
              <a:ext uri="{FF2B5EF4-FFF2-40B4-BE49-F238E27FC236}">
                <a16:creationId xmlns:a16="http://schemas.microsoft.com/office/drawing/2014/main" id="{0FC6D1C5-72A2-2AB2-E5DE-448834D13AB0}"/>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 name="Rectangle 1">
            <a:extLst>
              <a:ext uri="{FF2B5EF4-FFF2-40B4-BE49-F238E27FC236}">
                <a16:creationId xmlns:a16="http://schemas.microsoft.com/office/drawing/2014/main" id="{2A0491B1-3EFB-BD73-39EA-1639C27BFFA5}"/>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E1F5A218-7DF4-0418-9BCC-BA14BA948DB5}"/>
              </a:ext>
            </a:extLst>
          </p:cNvPr>
          <p:cNvPicPr>
            <a:picLocks noChangeAspect="1"/>
          </p:cNvPicPr>
          <p:nvPr/>
        </p:nvPicPr>
        <p:blipFill>
          <a:blip r:embed="rId3"/>
          <a:stretch>
            <a:fillRect/>
          </a:stretch>
        </p:blipFill>
        <p:spPr>
          <a:xfrm>
            <a:off x="3082841" y="1026409"/>
            <a:ext cx="7068536" cy="5515745"/>
          </a:xfrm>
          <a:prstGeom prst="rect">
            <a:avLst/>
          </a:prstGeom>
        </p:spPr>
      </p:pic>
      <p:sp>
        <p:nvSpPr>
          <p:cNvPr id="7" name="TextBox 6">
            <a:extLst>
              <a:ext uri="{FF2B5EF4-FFF2-40B4-BE49-F238E27FC236}">
                <a16:creationId xmlns:a16="http://schemas.microsoft.com/office/drawing/2014/main" id="{30569BBB-4468-AA78-A28B-1AE136488E13}"/>
              </a:ext>
            </a:extLst>
          </p:cNvPr>
          <p:cNvSpPr txBox="1"/>
          <p:nvPr/>
        </p:nvSpPr>
        <p:spPr>
          <a:xfrm>
            <a:off x="834321" y="541020"/>
            <a:ext cx="8209936" cy="107721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Sub system for Bidirectional DC-DC  Converter Supercapacitor</a:t>
            </a:r>
            <a:endParaRPr lang="en-IN" sz="3200" dirty="0"/>
          </a:p>
        </p:txBody>
      </p:sp>
    </p:spTree>
    <p:extLst>
      <p:ext uri="{BB962C8B-B14F-4D97-AF65-F5344CB8AC3E}">
        <p14:creationId xmlns:p14="http://schemas.microsoft.com/office/powerpoint/2010/main" val="1365912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D4ED5-931C-1D31-78B6-D8DA822BC60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3DF161A-1515-7475-9418-362C0E2F3D07}"/>
              </a:ext>
            </a:extLst>
          </p:cNvPr>
          <p:cNvSpPr/>
          <p:nvPr/>
        </p:nvSpPr>
        <p:spPr>
          <a:xfrm>
            <a:off x="294736" y="20859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Rectangle 2">
            <a:extLst>
              <a:ext uri="{FF2B5EF4-FFF2-40B4-BE49-F238E27FC236}">
                <a16:creationId xmlns:a16="http://schemas.microsoft.com/office/drawing/2014/main" id="{85C1AD68-0361-FB57-26B4-4ACEE1ED964D}"/>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 name="Rectangle 1">
            <a:extLst>
              <a:ext uri="{FF2B5EF4-FFF2-40B4-BE49-F238E27FC236}">
                <a16:creationId xmlns:a16="http://schemas.microsoft.com/office/drawing/2014/main" id="{6587FA7F-459F-7047-188D-17EEEF1F7619}"/>
              </a:ext>
            </a:extLst>
          </p:cNvPr>
          <p:cNvSpPr>
            <a:spLocks noChangeArrowheads="1"/>
          </p:cNvSpPr>
          <p:nvPr/>
        </p:nvSpPr>
        <p:spPr bwMode="auto">
          <a:xfrm>
            <a:off x="152400" y="518161"/>
            <a:ext cx="6038850" cy="45719"/>
          </a:xfrm>
          <a:prstGeom prst="rect">
            <a:avLst/>
          </a:prstGeom>
          <a:solidFill>
            <a:srgbClr val="FFFFFF"/>
          </a:solidFill>
          <a:ln w="12700">
            <a:solidFill>
              <a:srgbClr val="000000">
                <a:alpha val="0"/>
              </a:srgbClr>
            </a:solidFill>
            <a:miter lim="800000"/>
            <a:headEnd/>
            <a:tailEnd/>
          </a:ln>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67201BC2-750F-6928-04AD-0C8A75452C66}"/>
              </a:ext>
            </a:extLst>
          </p:cNvPr>
          <p:cNvPicPr>
            <a:picLocks noChangeAspect="1"/>
          </p:cNvPicPr>
          <p:nvPr/>
        </p:nvPicPr>
        <p:blipFill>
          <a:blip r:embed="rId3"/>
          <a:stretch>
            <a:fillRect/>
          </a:stretch>
        </p:blipFill>
        <p:spPr>
          <a:xfrm>
            <a:off x="2498408" y="639097"/>
            <a:ext cx="7265023" cy="5373227"/>
          </a:xfrm>
          <a:prstGeom prst="rect">
            <a:avLst/>
          </a:prstGeom>
        </p:spPr>
      </p:pic>
      <p:sp>
        <p:nvSpPr>
          <p:cNvPr id="7" name="TextBox 6">
            <a:extLst>
              <a:ext uri="{FF2B5EF4-FFF2-40B4-BE49-F238E27FC236}">
                <a16:creationId xmlns:a16="http://schemas.microsoft.com/office/drawing/2014/main" id="{906FFB2C-6E9D-BE4C-9195-3DE11042E973}"/>
              </a:ext>
            </a:extLst>
          </p:cNvPr>
          <p:cNvSpPr txBox="1"/>
          <p:nvPr/>
        </p:nvSpPr>
        <p:spPr>
          <a:xfrm>
            <a:off x="570271" y="786581"/>
            <a:ext cx="6872748" cy="107721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Sub system for Bidirectional DC-DC Converter Battery</a:t>
            </a:r>
            <a:endParaRPr lang="en-IN" sz="3200" dirty="0"/>
          </a:p>
        </p:txBody>
      </p:sp>
    </p:spTree>
    <p:extLst>
      <p:ext uri="{BB962C8B-B14F-4D97-AF65-F5344CB8AC3E}">
        <p14:creationId xmlns:p14="http://schemas.microsoft.com/office/powerpoint/2010/main" val="1464329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E7B7-38BD-480B-F7B1-9EEE1CD1D8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60370C5-A142-F22A-FB43-D77D2F48994C}"/>
              </a:ext>
            </a:extLst>
          </p:cNvPr>
          <p:cNvSpPr/>
          <p:nvPr/>
        </p:nvSpPr>
        <p:spPr>
          <a:xfrm>
            <a:off x="370936" y="14664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pic>
        <p:nvPicPr>
          <p:cNvPr id="4" name="Picture 3">
            <a:extLst>
              <a:ext uri="{FF2B5EF4-FFF2-40B4-BE49-F238E27FC236}">
                <a16:creationId xmlns:a16="http://schemas.microsoft.com/office/drawing/2014/main" id="{5CF0EA15-33AA-1BD1-5E4E-7B4824E20978}"/>
              </a:ext>
            </a:extLst>
          </p:cNvPr>
          <p:cNvPicPr>
            <a:picLocks noChangeAspect="1"/>
          </p:cNvPicPr>
          <p:nvPr/>
        </p:nvPicPr>
        <p:blipFill>
          <a:blip r:embed="rId2"/>
          <a:stretch>
            <a:fillRect/>
          </a:stretch>
        </p:blipFill>
        <p:spPr>
          <a:xfrm>
            <a:off x="4608499" y="146649"/>
            <a:ext cx="5334744" cy="6401693"/>
          </a:xfrm>
          <a:prstGeom prst="rect">
            <a:avLst/>
          </a:prstGeom>
        </p:spPr>
      </p:pic>
      <p:sp>
        <p:nvSpPr>
          <p:cNvPr id="8" name="TextBox 7">
            <a:extLst>
              <a:ext uri="{FF2B5EF4-FFF2-40B4-BE49-F238E27FC236}">
                <a16:creationId xmlns:a16="http://schemas.microsoft.com/office/drawing/2014/main" id="{C7F9DC66-58C9-E7E4-3410-898841005C6A}"/>
              </a:ext>
            </a:extLst>
          </p:cNvPr>
          <p:cNvSpPr txBox="1"/>
          <p:nvPr/>
        </p:nvSpPr>
        <p:spPr>
          <a:xfrm>
            <a:off x="842884" y="884903"/>
            <a:ext cx="3470787" cy="107721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Sub system for power calculations</a:t>
            </a:r>
            <a:endParaRPr lang="en-IN" sz="3200" dirty="0"/>
          </a:p>
        </p:txBody>
      </p:sp>
    </p:spTree>
    <p:extLst>
      <p:ext uri="{BB962C8B-B14F-4D97-AF65-F5344CB8AC3E}">
        <p14:creationId xmlns:p14="http://schemas.microsoft.com/office/powerpoint/2010/main" val="2781622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5B875-3EB0-24FD-F916-017BBAAF661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42921A-19A1-4CFC-A4DA-E04389A8412F}"/>
              </a:ext>
            </a:extLst>
          </p:cNvPr>
          <p:cNvSpPr/>
          <p:nvPr/>
        </p:nvSpPr>
        <p:spPr>
          <a:xfrm>
            <a:off x="156853" y="208598"/>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8AF68125-ECDA-DC82-0243-EF14FC06BD80}"/>
              </a:ext>
            </a:extLst>
          </p:cNvPr>
          <p:cNvSpPr txBox="1"/>
          <p:nvPr/>
        </p:nvSpPr>
        <p:spPr>
          <a:xfrm>
            <a:off x="432618" y="560440"/>
            <a:ext cx="440485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Methodology Overview</a:t>
            </a:r>
          </a:p>
        </p:txBody>
      </p:sp>
      <p:sp>
        <p:nvSpPr>
          <p:cNvPr id="4" name="TextBox 3">
            <a:extLst>
              <a:ext uri="{FF2B5EF4-FFF2-40B4-BE49-F238E27FC236}">
                <a16:creationId xmlns:a16="http://schemas.microsoft.com/office/drawing/2014/main" id="{E6394B37-7A38-C4E4-9640-B83C2C36E8C5}"/>
              </a:ext>
            </a:extLst>
          </p:cNvPr>
          <p:cNvSpPr txBox="1"/>
          <p:nvPr/>
        </p:nvSpPr>
        <p:spPr>
          <a:xfrm>
            <a:off x="599767" y="1848465"/>
            <a:ext cx="9507793" cy="2308324"/>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Integrates renewable source models, energy storage, and price-responsive demand.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Uses a nonlinear controller to generate dynamic pricing signals.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Controller parameters are fine-tuned using Ant Colony Optimization (ACO).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Simulated in MATLAB/Simulink under real-world conditions</a:t>
            </a:r>
            <a:r>
              <a:rPr lang="en-IN" dirty="0"/>
              <a:t>.</a:t>
            </a:r>
          </a:p>
        </p:txBody>
      </p:sp>
    </p:spTree>
    <p:extLst>
      <p:ext uri="{BB962C8B-B14F-4D97-AF65-F5344CB8AC3E}">
        <p14:creationId xmlns:p14="http://schemas.microsoft.com/office/powerpoint/2010/main" val="2399698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111C8-1AF4-C156-F619-2527471E34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68D524-0703-A15F-EF71-2253D1D9AC9A}"/>
              </a:ext>
            </a:extLst>
          </p:cNvPr>
          <p:cNvSpPr/>
          <p:nvPr/>
        </p:nvSpPr>
        <p:spPr>
          <a:xfrm>
            <a:off x="218536" y="20859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14BAF9A8-006B-E9A4-65F3-C222D43E4A9A}"/>
              </a:ext>
            </a:extLst>
          </p:cNvPr>
          <p:cNvSpPr txBox="1"/>
          <p:nvPr/>
        </p:nvSpPr>
        <p:spPr>
          <a:xfrm>
            <a:off x="471948" y="599770"/>
            <a:ext cx="5024284" cy="107721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Microgrid System Components</a:t>
            </a:r>
          </a:p>
        </p:txBody>
      </p:sp>
      <p:sp>
        <p:nvSpPr>
          <p:cNvPr id="4" name="TextBox 3">
            <a:extLst>
              <a:ext uri="{FF2B5EF4-FFF2-40B4-BE49-F238E27FC236}">
                <a16:creationId xmlns:a16="http://schemas.microsoft.com/office/drawing/2014/main" id="{6BC1AEE3-C0F1-9257-3DF2-E730E72F3080}"/>
              </a:ext>
            </a:extLst>
          </p:cNvPr>
          <p:cNvSpPr txBox="1"/>
          <p:nvPr/>
        </p:nvSpPr>
        <p:spPr>
          <a:xfrm>
            <a:off x="776747" y="1730477"/>
            <a:ext cx="10058401"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Solar PV and Wind: Provide intermittent renewable generation.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Battery Storage (ESS): Manages surplus and shortages in supply.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Elastic Load: Load varies based on price signals.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Intelligent Controller: Adjusts electricity price in real-time to balance load.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137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9AA3E-366B-BCDF-EABA-274337640F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0A25922-342C-9E58-386C-C61857DB5C87}"/>
              </a:ext>
            </a:extLst>
          </p:cNvPr>
          <p:cNvSpPr/>
          <p:nvPr/>
        </p:nvSpPr>
        <p:spPr>
          <a:xfrm>
            <a:off x="218536" y="20859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3A5D1F1C-B65F-60E6-865E-12EDA69D828C}"/>
              </a:ext>
            </a:extLst>
          </p:cNvPr>
          <p:cNvSpPr txBox="1"/>
          <p:nvPr/>
        </p:nvSpPr>
        <p:spPr>
          <a:xfrm>
            <a:off x="452284" y="530943"/>
            <a:ext cx="3057832" cy="107721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Control Approach</a:t>
            </a:r>
          </a:p>
        </p:txBody>
      </p:sp>
      <p:sp>
        <p:nvSpPr>
          <p:cNvPr id="4" name="TextBox 3">
            <a:extLst>
              <a:ext uri="{FF2B5EF4-FFF2-40B4-BE49-F238E27FC236}">
                <a16:creationId xmlns:a16="http://schemas.microsoft.com/office/drawing/2014/main" id="{77160A1C-B267-8E0E-C54A-1264126BB4F2}"/>
              </a:ext>
            </a:extLst>
          </p:cNvPr>
          <p:cNvSpPr txBox="1"/>
          <p:nvPr/>
        </p:nvSpPr>
        <p:spPr>
          <a:xfrm>
            <a:off x="766916" y="1612490"/>
            <a:ext cx="9832258" cy="1938992"/>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Employ Super-Twisting Sliding Mode Control (STSMC) to manage nonlinear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Control signal: dynamic price p(t) based on error.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Error signal: e(t) = G(t) − Do(t) </a:t>
            </a: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Where G(t) is power generated, Do(t) is optimized demand</a:t>
            </a:r>
            <a:r>
              <a:rPr lang="en-IN" dirty="0"/>
              <a:t>.</a:t>
            </a:r>
          </a:p>
        </p:txBody>
      </p:sp>
    </p:spTree>
    <p:extLst>
      <p:ext uri="{BB962C8B-B14F-4D97-AF65-F5344CB8AC3E}">
        <p14:creationId xmlns:p14="http://schemas.microsoft.com/office/powerpoint/2010/main" val="2075501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70B2-E92A-98CD-BEA5-CAB47B866D0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CBBA67F-ECA8-F74A-8D1D-A9690181638E}"/>
              </a:ext>
            </a:extLst>
          </p:cNvPr>
          <p:cNvSpPr/>
          <p:nvPr/>
        </p:nvSpPr>
        <p:spPr>
          <a:xfrm>
            <a:off x="218536" y="20859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4A7039D6-6A20-6CF2-3E3A-FFB3011740DF}"/>
              </a:ext>
            </a:extLst>
          </p:cNvPr>
          <p:cNvSpPr txBox="1"/>
          <p:nvPr/>
        </p:nvSpPr>
        <p:spPr>
          <a:xfrm>
            <a:off x="452283" y="263781"/>
            <a:ext cx="4611330" cy="1077218"/>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STSMC Control Law (Enhanced)</a:t>
            </a:r>
          </a:p>
        </p:txBody>
      </p:sp>
      <p:sp>
        <p:nvSpPr>
          <p:cNvPr id="4" name="TextBox 3">
            <a:extLst>
              <a:ext uri="{FF2B5EF4-FFF2-40B4-BE49-F238E27FC236}">
                <a16:creationId xmlns:a16="http://schemas.microsoft.com/office/drawing/2014/main" id="{784CB916-1FCE-56E4-3197-54AEAD37244A}"/>
              </a:ext>
            </a:extLst>
          </p:cNvPr>
          <p:cNvSpPr txBox="1"/>
          <p:nvPr/>
        </p:nvSpPr>
        <p:spPr>
          <a:xfrm>
            <a:off x="717755" y="1396181"/>
            <a:ext cx="10038735" cy="3416320"/>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u(t) = K1e(t) + K2|e(t)| 1/2 sign(e(t)) + K3 sign(e(t))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Purpose: Adjust demand via price signal based on generation-demand mismatch.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Components: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K1e(t): Linear term to reduce steady-state error.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K2|e(t)| 1/2 sign(e(t)): Fast convergence term.</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K3sign(e(t)): Disturbance rejection term.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Super-twisting logic reduces chattering vs traditional SMC.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Ensures robust, finite-time convergence even under uncertainty</a:t>
            </a:r>
            <a:r>
              <a:rPr lang="en-IN" dirty="0"/>
              <a:t>.</a:t>
            </a:r>
          </a:p>
        </p:txBody>
      </p:sp>
    </p:spTree>
    <p:extLst>
      <p:ext uri="{BB962C8B-B14F-4D97-AF65-F5344CB8AC3E}">
        <p14:creationId xmlns:p14="http://schemas.microsoft.com/office/powerpoint/2010/main" val="1772578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AE87F-ECD0-F6C4-A5B8-D1CF1C3C2D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439C81-22F7-4C8C-B5FD-F7EE2549E4D7}"/>
              </a:ext>
            </a:extLst>
          </p:cNvPr>
          <p:cNvSpPr/>
          <p:nvPr/>
        </p:nvSpPr>
        <p:spPr>
          <a:xfrm>
            <a:off x="218536" y="208599"/>
            <a:ext cx="11602528" cy="64408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B9611C95-219D-AB33-13A2-5B709C7E9BAA}"/>
              </a:ext>
            </a:extLst>
          </p:cNvPr>
          <p:cNvSpPr txBox="1"/>
          <p:nvPr/>
        </p:nvSpPr>
        <p:spPr>
          <a:xfrm>
            <a:off x="462114" y="471949"/>
            <a:ext cx="472931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ACO-Based Optimization</a:t>
            </a:r>
          </a:p>
        </p:txBody>
      </p:sp>
      <p:sp>
        <p:nvSpPr>
          <p:cNvPr id="4" name="TextBox 3">
            <a:extLst>
              <a:ext uri="{FF2B5EF4-FFF2-40B4-BE49-F238E27FC236}">
                <a16:creationId xmlns:a16="http://schemas.microsoft.com/office/drawing/2014/main" id="{A8D38585-9605-E2E8-95CA-9CEE9427608B}"/>
              </a:ext>
            </a:extLst>
          </p:cNvPr>
          <p:cNvSpPr txBox="1"/>
          <p:nvPr/>
        </p:nvSpPr>
        <p:spPr>
          <a:xfrm>
            <a:off x="717755" y="1396181"/>
            <a:ext cx="10038735" cy="2308324"/>
          </a:xfrm>
          <a:prstGeom prst="rect">
            <a:avLst/>
          </a:prstGeom>
          <a:noFill/>
        </p:spPr>
        <p:txBody>
          <a:bodyPr wrap="square" rtlCol="0">
            <a:spAutoFit/>
          </a:bodyPr>
          <a:lstStyle/>
          <a:p>
            <a:pPr marL="342900" indent="-342900">
              <a:buFont typeface="Arial" panose="020B0604020202020204" pitchFamily="34" charset="0"/>
              <a:buChar char="•"/>
            </a:pPr>
            <a:r>
              <a:rPr lang="en-IN" sz="2400" dirty="0"/>
              <a:t> ACO optimizes controller gains K1,K2,K3 to minimize error and price fluctuation. </a:t>
            </a:r>
          </a:p>
          <a:p>
            <a:pPr marL="342900" indent="-342900">
              <a:buFont typeface="Arial" panose="020B0604020202020204" pitchFamily="34" charset="0"/>
              <a:buChar char="•"/>
            </a:pPr>
            <a:r>
              <a:rPr lang="en-IN" sz="2400" dirty="0"/>
              <a:t> Fitness function       </a:t>
            </a:r>
          </a:p>
          <a:p>
            <a:pPr marL="342900" indent="-342900">
              <a:buFont typeface="Arial" panose="020B0604020202020204" pitchFamily="34" charset="0"/>
              <a:buChar char="•"/>
            </a:pPr>
            <a:endParaRPr lang="en-IN" sz="2400" dirty="0"/>
          </a:p>
          <a:p>
            <a:pPr marL="342900" indent="-342900">
              <a:buFont typeface="Arial" panose="020B0604020202020204" pitchFamily="34" charset="0"/>
              <a:buChar char="•"/>
            </a:pPr>
            <a:r>
              <a:rPr lang="en-IN" sz="2400" dirty="0"/>
              <a:t>Emulates ant </a:t>
            </a:r>
            <a:r>
              <a:rPr lang="en-IN" sz="2400" dirty="0" err="1"/>
              <a:t>behavior</a:t>
            </a:r>
            <a:r>
              <a:rPr lang="en-IN" sz="2400" dirty="0"/>
              <a:t> to find optimal control paths via pheromone trails.  Provides a global search mechanism resistant to local minima.</a:t>
            </a:r>
            <a:r>
              <a:rPr lang="en-IN" dirty="0"/>
              <a:t>.</a:t>
            </a:r>
          </a:p>
        </p:txBody>
      </p:sp>
      <p:pic>
        <p:nvPicPr>
          <p:cNvPr id="8" name="Picture 7">
            <a:extLst>
              <a:ext uri="{FF2B5EF4-FFF2-40B4-BE49-F238E27FC236}">
                <a16:creationId xmlns:a16="http://schemas.microsoft.com/office/drawing/2014/main" id="{353E09FD-7212-5906-3786-31868EC7587B}"/>
              </a:ext>
            </a:extLst>
          </p:cNvPr>
          <p:cNvPicPr>
            <a:picLocks noChangeAspect="1"/>
          </p:cNvPicPr>
          <p:nvPr/>
        </p:nvPicPr>
        <p:blipFill>
          <a:blip r:embed="rId2"/>
          <a:stretch>
            <a:fillRect/>
          </a:stretch>
        </p:blipFill>
        <p:spPr>
          <a:xfrm>
            <a:off x="4324113" y="2038931"/>
            <a:ext cx="3391373" cy="857370"/>
          </a:xfrm>
          <a:prstGeom prst="rect">
            <a:avLst/>
          </a:prstGeom>
        </p:spPr>
      </p:pic>
    </p:spTree>
    <p:extLst>
      <p:ext uri="{BB962C8B-B14F-4D97-AF65-F5344CB8AC3E}">
        <p14:creationId xmlns:p14="http://schemas.microsoft.com/office/powerpoint/2010/main" val="3071148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593E62-A515-7CF6-CF40-1DB66E6848DF}"/>
              </a:ext>
            </a:extLst>
          </p:cNvPr>
          <p:cNvSpPr txBox="1"/>
          <p:nvPr/>
        </p:nvSpPr>
        <p:spPr>
          <a:xfrm>
            <a:off x="3907831" y="2744576"/>
            <a:ext cx="7570838" cy="1015663"/>
          </a:xfrm>
          <a:prstGeom prst="rect">
            <a:avLst/>
          </a:prstGeom>
          <a:noFill/>
        </p:spPr>
        <p:txBody>
          <a:bodyPr wrap="square" rtlCol="0">
            <a:spAutoFit/>
          </a:bodyPr>
          <a:lstStyle/>
          <a:p>
            <a:r>
              <a:rPr lang="en-IN" sz="6000" dirty="0">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3577670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80BDE-E1BB-F261-6BE6-DFDAD7CDB5F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66A5A10-C815-B860-2512-E1E33488F473}"/>
              </a:ext>
            </a:extLst>
          </p:cNvPr>
          <p:cNvSpPr txBox="1"/>
          <p:nvPr/>
        </p:nvSpPr>
        <p:spPr>
          <a:xfrm>
            <a:off x="0" y="-179997"/>
            <a:ext cx="3928896" cy="1015663"/>
          </a:xfrm>
          <a:prstGeom prst="rect">
            <a:avLst/>
          </a:prstGeom>
          <a:noFill/>
        </p:spPr>
        <p:txBody>
          <a:bodyPr wrap="none" rtlCol="0">
            <a:spAutoFit/>
          </a:bodyPr>
          <a:lstStyle/>
          <a:p>
            <a:r>
              <a:rPr lang="en-IN" sz="6000" dirty="0">
                <a:latin typeface="Times New Roman" panose="02020603050405020304" pitchFamily="18" charset="0"/>
                <a:cs typeface="Times New Roman" panose="02020603050405020304" pitchFamily="18" charset="0"/>
              </a:rPr>
              <a:t>PV ARRAY</a:t>
            </a:r>
          </a:p>
        </p:txBody>
      </p:sp>
      <p:pic>
        <p:nvPicPr>
          <p:cNvPr id="3" name="Picture 2">
            <a:extLst>
              <a:ext uri="{FF2B5EF4-FFF2-40B4-BE49-F238E27FC236}">
                <a16:creationId xmlns:a16="http://schemas.microsoft.com/office/drawing/2014/main" id="{1AAA2C4E-AB36-8972-86B7-59B4B48E41E0}"/>
              </a:ext>
            </a:extLst>
          </p:cNvPr>
          <p:cNvPicPr>
            <a:picLocks noChangeAspect="1"/>
          </p:cNvPicPr>
          <p:nvPr/>
        </p:nvPicPr>
        <p:blipFill>
          <a:blip r:embed="rId2"/>
          <a:stretch>
            <a:fillRect/>
          </a:stretch>
        </p:blipFill>
        <p:spPr>
          <a:xfrm>
            <a:off x="8173965" y="1892298"/>
            <a:ext cx="2848373" cy="1848108"/>
          </a:xfrm>
          <a:prstGeom prst="rect">
            <a:avLst/>
          </a:prstGeom>
        </p:spPr>
      </p:pic>
      <p:pic>
        <p:nvPicPr>
          <p:cNvPr id="5" name="Picture 4">
            <a:extLst>
              <a:ext uri="{FF2B5EF4-FFF2-40B4-BE49-F238E27FC236}">
                <a16:creationId xmlns:a16="http://schemas.microsoft.com/office/drawing/2014/main" id="{C71C4682-6C20-0F91-70CB-8DC8579C7B52}"/>
              </a:ext>
            </a:extLst>
          </p:cNvPr>
          <p:cNvPicPr>
            <a:picLocks noChangeAspect="1"/>
          </p:cNvPicPr>
          <p:nvPr/>
        </p:nvPicPr>
        <p:blipFill>
          <a:blip r:embed="rId3"/>
          <a:stretch>
            <a:fillRect/>
          </a:stretch>
        </p:blipFill>
        <p:spPr>
          <a:xfrm>
            <a:off x="42696" y="1318852"/>
            <a:ext cx="7772400" cy="4050174"/>
          </a:xfrm>
          <a:prstGeom prst="rect">
            <a:avLst/>
          </a:prstGeom>
        </p:spPr>
      </p:pic>
    </p:spTree>
    <p:extLst>
      <p:ext uri="{BB962C8B-B14F-4D97-AF65-F5344CB8AC3E}">
        <p14:creationId xmlns:p14="http://schemas.microsoft.com/office/powerpoint/2010/main" val="272850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35AF-A161-4B42-7C39-3314567278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C5E336-E6AA-7717-E4A9-A7C5211491A3}"/>
              </a:ext>
            </a:extLst>
          </p:cNvPr>
          <p:cNvSpPr txBox="1"/>
          <p:nvPr/>
        </p:nvSpPr>
        <p:spPr>
          <a:xfrm>
            <a:off x="0" y="-157486"/>
            <a:ext cx="3604385" cy="1015663"/>
          </a:xfrm>
          <a:prstGeom prst="rect">
            <a:avLst/>
          </a:prstGeom>
          <a:noFill/>
        </p:spPr>
        <p:txBody>
          <a:bodyPr wrap="none" rtlCol="0">
            <a:spAutoFit/>
          </a:bodyPr>
          <a:lstStyle/>
          <a:p>
            <a:r>
              <a:rPr lang="en-IN" sz="6000" dirty="0">
                <a:latin typeface="Times New Roman" panose="02020603050405020304" pitchFamily="18" charset="0"/>
                <a:cs typeface="Times New Roman" panose="02020603050405020304" pitchFamily="18" charset="0"/>
              </a:rPr>
              <a:t>BATTERY</a:t>
            </a:r>
          </a:p>
        </p:txBody>
      </p:sp>
      <p:pic>
        <p:nvPicPr>
          <p:cNvPr id="4" name="Picture 3">
            <a:extLst>
              <a:ext uri="{FF2B5EF4-FFF2-40B4-BE49-F238E27FC236}">
                <a16:creationId xmlns:a16="http://schemas.microsoft.com/office/drawing/2014/main" id="{24777EBA-0C88-AD6E-C166-BABF28E6E67D}"/>
              </a:ext>
            </a:extLst>
          </p:cNvPr>
          <p:cNvPicPr>
            <a:picLocks noChangeAspect="1"/>
          </p:cNvPicPr>
          <p:nvPr/>
        </p:nvPicPr>
        <p:blipFill>
          <a:blip r:embed="rId2"/>
          <a:stretch>
            <a:fillRect/>
          </a:stretch>
        </p:blipFill>
        <p:spPr>
          <a:xfrm>
            <a:off x="8297776" y="2061913"/>
            <a:ext cx="3057952" cy="2019582"/>
          </a:xfrm>
          <a:prstGeom prst="rect">
            <a:avLst/>
          </a:prstGeom>
        </p:spPr>
      </p:pic>
      <p:pic>
        <p:nvPicPr>
          <p:cNvPr id="3" name="Picture 2">
            <a:extLst>
              <a:ext uri="{FF2B5EF4-FFF2-40B4-BE49-F238E27FC236}">
                <a16:creationId xmlns:a16="http://schemas.microsoft.com/office/drawing/2014/main" id="{A5D9B695-AE9B-7E0E-48CF-EC1D2F8ED663}"/>
              </a:ext>
            </a:extLst>
          </p:cNvPr>
          <p:cNvPicPr>
            <a:picLocks noChangeAspect="1"/>
          </p:cNvPicPr>
          <p:nvPr/>
        </p:nvPicPr>
        <p:blipFill>
          <a:blip r:embed="rId3"/>
          <a:stretch>
            <a:fillRect/>
          </a:stretch>
        </p:blipFill>
        <p:spPr>
          <a:xfrm>
            <a:off x="8025" y="1402276"/>
            <a:ext cx="7772400" cy="3606879"/>
          </a:xfrm>
          <a:prstGeom prst="rect">
            <a:avLst/>
          </a:prstGeom>
        </p:spPr>
      </p:pic>
    </p:spTree>
    <p:extLst>
      <p:ext uri="{BB962C8B-B14F-4D97-AF65-F5344CB8AC3E}">
        <p14:creationId xmlns:p14="http://schemas.microsoft.com/office/powerpoint/2010/main" val="631511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0F2BF8-4B0E-B7F5-370A-41C11FAA770D}"/>
              </a:ext>
            </a:extLst>
          </p:cNvPr>
          <p:cNvSpPr txBox="1"/>
          <p:nvPr/>
        </p:nvSpPr>
        <p:spPr>
          <a:xfrm>
            <a:off x="85344" y="0"/>
            <a:ext cx="6108192" cy="923330"/>
          </a:xfrm>
          <a:prstGeom prst="rect">
            <a:avLst/>
          </a:prstGeom>
          <a:noFill/>
        </p:spPr>
        <p:txBody>
          <a:bodyPr wrap="square" rtlCol="0">
            <a:spAutoFit/>
          </a:bodyPr>
          <a:lstStyle/>
          <a:p>
            <a:r>
              <a:rPr lang="en-IN" sz="5400" dirty="0"/>
              <a:t>Supercapacitor</a:t>
            </a:r>
          </a:p>
        </p:txBody>
      </p:sp>
      <p:pic>
        <p:nvPicPr>
          <p:cNvPr id="5" name="Picture 4">
            <a:extLst>
              <a:ext uri="{FF2B5EF4-FFF2-40B4-BE49-F238E27FC236}">
                <a16:creationId xmlns:a16="http://schemas.microsoft.com/office/drawing/2014/main" id="{8F07D15E-FE47-CFFB-655D-5902A96E1CA7}"/>
              </a:ext>
            </a:extLst>
          </p:cNvPr>
          <p:cNvPicPr>
            <a:picLocks noChangeAspect="1"/>
          </p:cNvPicPr>
          <p:nvPr/>
        </p:nvPicPr>
        <p:blipFill>
          <a:blip r:embed="rId2"/>
          <a:stretch>
            <a:fillRect/>
          </a:stretch>
        </p:blipFill>
        <p:spPr>
          <a:xfrm>
            <a:off x="8690028" y="1934194"/>
            <a:ext cx="2876951" cy="2038635"/>
          </a:xfrm>
          <a:prstGeom prst="rect">
            <a:avLst/>
          </a:prstGeom>
        </p:spPr>
      </p:pic>
      <p:pic>
        <p:nvPicPr>
          <p:cNvPr id="7" name="Picture 6">
            <a:extLst>
              <a:ext uri="{FF2B5EF4-FFF2-40B4-BE49-F238E27FC236}">
                <a16:creationId xmlns:a16="http://schemas.microsoft.com/office/drawing/2014/main" id="{C7D0A0DC-E30F-D741-AF4D-925946249F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75" y="1615150"/>
            <a:ext cx="7772400" cy="3329396"/>
          </a:xfrm>
          <a:prstGeom prst="rect">
            <a:avLst/>
          </a:prstGeom>
        </p:spPr>
      </p:pic>
    </p:spTree>
    <p:extLst>
      <p:ext uri="{BB962C8B-B14F-4D97-AF65-F5344CB8AC3E}">
        <p14:creationId xmlns:p14="http://schemas.microsoft.com/office/powerpoint/2010/main" val="1290769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0406B-F3C6-728A-F8A7-D75EB4A39B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9E3121-67D8-EE23-9282-7403FE8607A6}"/>
              </a:ext>
            </a:extLst>
          </p:cNvPr>
          <p:cNvSpPr txBox="1"/>
          <p:nvPr/>
        </p:nvSpPr>
        <p:spPr>
          <a:xfrm>
            <a:off x="0" y="0"/>
            <a:ext cx="2707793" cy="1015663"/>
          </a:xfrm>
          <a:prstGeom prst="rect">
            <a:avLst/>
          </a:prstGeom>
          <a:noFill/>
        </p:spPr>
        <p:txBody>
          <a:bodyPr wrap="none" rtlCol="0">
            <a:spAutoFit/>
          </a:bodyPr>
          <a:lstStyle/>
          <a:p>
            <a:r>
              <a:rPr lang="en-IN" sz="6000" dirty="0">
                <a:latin typeface="Times New Roman" panose="02020603050405020304" pitchFamily="18" charset="0"/>
                <a:cs typeface="Times New Roman" panose="02020603050405020304" pitchFamily="18" charset="0"/>
              </a:rPr>
              <a:t>STSMC</a:t>
            </a:r>
          </a:p>
        </p:txBody>
      </p:sp>
      <p:pic>
        <p:nvPicPr>
          <p:cNvPr id="4" name="Picture 3">
            <a:extLst>
              <a:ext uri="{FF2B5EF4-FFF2-40B4-BE49-F238E27FC236}">
                <a16:creationId xmlns:a16="http://schemas.microsoft.com/office/drawing/2014/main" id="{F1393E12-77FC-3BA8-E040-E3D36BFA18BD}"/>
              </a:ext>
            </a:extLst>
          </p:cNvPr>
          <p:cNvPicPr>
            <a:picLocks noChangeAspect="1"/>
          </p:cNvPicPr>
          <p:nvPr/>
        </p:nvPicPr>
        <p:blipFill>
          <a:blip r:embed="rId2"/>
          <a:stretch>
            <a:fillRect/>
          </a:stretch>
        </p:blipFill>
        <p:spPr>
          <a:xfrm>
            <a:off x="56707" y="1563393"/>
            <a:ext cx="7772400" cy="4028925"/>
          </a:xfrm>
          <a:prstGeom prst="rect">
            <a:avLst/>
          </a:prstGeom>
        </p:spPr>
      </p:pic>
    </p:spTree>
    <p:extLst>
      <p:ext uri="{BB962C8B-B14F-4D97-AF65-F5344CB8AC3E}">
        <p14:creationId xmlns:p14="http://schemas.microsoft.com/office/powerpoint/2010/main" val="79925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CD6C1B-CDEA-6ED5-7C00-C413BF333DFE}"/>
              </a:ext>
            </a:extLst>
          </p:cNvPr>
          <p:cNvSpPr txBox="1"/>
          <p:nvPr/>
        </p:nvSpPr>
        <p:spPr>
          <a:xfrm>
            <a:off x="501445" y="648929"/>
            <a:ext cx="389357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18FBAB52-6AC5-1241-6530-206FC0F9AC70}"/>
              </a:ext>
            </a:extLst>
          </p:cNvPr>
          <p:cNvSpPr txBox="1"/>
          <p:nvPr/>
        </p:nvSpPr>
        <p:spPr>
          <a:xfrm>
            <a:off x="865239" y="1376515"/>
            <a:ext cx="9389806"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Developed a </a:t>
            </a:r>
            <a:r>
              <a:rPr lang="en-US" sz="2400" b="1" dirty="0">
                <a:latin typeface="Times New Roman" panose="02020603050405020304" pitchFamily="18" charset="0"/>
                <a:cs typeface="Times New Roman" panose="02020603050405020304" pitchFamily="18" charset="0"/>
              </a:rPr>
              <a:t>microgrid simulation</a:t>
            </a:r>
            <a:r>
              <a:rPr lang="en-US" sz="2400" dirty="0">
                <a:latin typeface="Times New Roman" panose="02020603050405020304" pitchFamily="18" charset="0"/>
                <a:cs typeface="Times New Roman" panose="02020603050405020304" pitchFamily="18" charset="0"/>
              </a:rPr>
              <a:t> with high renewable penetration and dynamic load conditions.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Implemented </a:t>
            </a:r>
            <a:r>
              <a:rPr lang="en-US" sz="2400" b="1" dirty="0">
                <a:latin typeface="Times New Roman" panose="02020603050405020304" pitchFamily="18" charset="0"/>
                <a:cs typeface="Times New Roman" panose="02020603050405020304" pitchFamily="18" charset="0"/>
              </a:rPr>
              <a:t>STSMC (Super-Twisting Sliding Mode Control)</a:t>
            </a:r>
            <a:r>
              <a:rPr lang="en-US" sz="2400" dirty="0">
                <a:latin typeface="Times New Roman" panose="02020603050405020304" pitchFamily="18" charset="0"/>
                <a:cs typeface="Times New Roman" panose="02020603050405020304" pitchFamily="18" charset="0"/>
              </a:rPr>
              <a:t> for robust control under nonlinear and uncertain conditions.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a:t>
            </a:r>
            <a:r>
              <a:rPr lang="en-US" sz="2400" b="1" dirty="0">
                <a:latin typeface="Times New Roman" panose="02020603050405020304" pitchFamily="18" charset="0"/>
                <a:cs typeface="Times New Roman" panose="02020603050405020304" pitchFamily="18" charset="0"/>
              </a:rPr>
              <a:t>ACO (Ant Colony Optimization)</a:t>
            </a:r>
            <a:r>
              <a:rPr lang="en-US" sz="2400" dirty="0">
                <a:latin typeface="Times New Roman" panose="02020603050405020304" pitchFamily="18" charset="0"/>
                <a:cs typeface="Times New Roman" panose="02020603050405020304" pitchFamily="18" charset="0"/>
              </a:rPr>
              <a:t> to automatically tune controller parameters, reducing manual effort and improving performance.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Achieved </a:t>
            </a:r>
            <a:r>
              <a:rPr lang="en-US" sz="2400" b="1" dirty="0">
                <a:latin typeface="Times New Roman" panose="02020603050405020304" pitchFamily="18" charset="0"/>
                <a:cs typeface="Times New Roman" panose="02020603050405020304" pitchFamily="18" charset="0"/>
              </a:rPr>
              <a:t>fast convergence of tracking errors</a:t>
            </a:r>
            <a:r>
              <a:rPr lang="en-US" sz="2400" dirty="0">
                <a:latin typeface="Times New Roman" panose="02020603050405020304" pitchFamily="18" charset="0"/>
                <a:cs typeface="Times New Roman" panose="02020603050405020304" pitchFamily="18" charset="0"/>
              </a:rPr>
              <a:t> and significantly </a:t>
            </a:r>
            <a:r>
              <a:rPr lang="en-US" sz="2400" b="1" dirty="0">
                <a:latin typeface="Times New Roman" panose="02020603050405020304" pitchFamily="18" charset="0"/>
                <a:cs typeface="Times New Roman" panose="02020603050405020304" pitchFamily="18" charset="0"/>
              </a:rPr>
              <a:t>reduced chattering</a:t>
            </a:r>
            <a:r>
              <a:rPr lang="en-US" sz="2400" dirty="0">
                <a:latin typeface="Times New Roman" panose="02020603050405020304" pitchFamily="18" charset="0"/>
                <a:cs typeface="Times New Roman" panose="02020603050405020304" pitchFamily="18" charset="0"/>
              </a:rPr>
              <a:t> compared to traditional sliding mode control.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5152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1327</TotalTime>
  <Words>1932</Words>
  <Application>Microsoft Macintosh PowerPoint</Application>
  <PresentationFormat>Widescreen</PresentationFormat>
  <Paragraphs>167</Paragraphs>
  <Slides>28</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PowerPoint Presentation</vt:lpstr>
      <vt:lpstr>Team Members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venkatavatsal@gmail.com</dc:creator>
  <cp:lastModifiedBy>sandeep sandeep</cp:lastModifiedBy>
  <cp:revision>12</cp:revision>
  <dcterms:created xsi:type="dcterms:W3CDTF">2025-08-23T15:27:08Z</dcterms:created>
  <dcterms:modified xsi:type="dcterms:W3CDTF">2025-10-08T22:11:50Z</dcterms:modified>
</cp:coreProperties>
</file>